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8" r:id="rId3"/>
    <p:sldId id="27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3" r:id="rId18"/>
    <p:sldId id="273" r:id="rId19"/>
    <p:sldId id="278" r:id="rId20"/>
    <p:sldId id="281" r:id="rId21"/>
    <p:sldId id="282" r:id="rId22"/>
    <p:sldId id="27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5E915-4027-FA15-4719-CCC51E372F07}" v="4" dt="2026-08-02T06:46:48.777"/>
    <p1510:client id="{12816096-8693-1D9A-5302-2EB31F914DF8}" v="40" dt="2026-08-02T04:43:40.770"/>
    <p1510:client id="{2C7D89E0-ABEA-E416-1635-A936649F39A7}" v="145" dt="2026-08-02T04:46:42.471"/>
    <p1510:client id="{304FA45B-1212-04C4-A595-20A9037D7986}" v="18" dt="2026-08-02T05:44:56.593"/>
    <p1510:client id="{3FEEF91C-A642-AFA4-56FC-0F42B9A0D6B4}" v="55" dt="2026-08-02T05:03:09.310"/>
    <p1510:client id="{44FD2DB8-7B60-25F2-484F-FA149F6CEB5F}" v="16" dt="2026-08-02T04:39:11.020"/>
    <p1510:client id="{52C652F1-8095-46B1-9FCA-60269AB1B4A3}" v="23" dt="2026-08-02T05:45:49.093"/>
    <p1510:client id="{65F795EA-B2A9-138F-C317-4C7BDD0B4D95}" v="71" dt="2026-08-02T04:36:51.120"/>
    <p1510:client id="{6BAF147E-BDA1-1352-1B90-6013F1BEAE8A}" v="330" dt="2026-08-02T06:46:24.733"/>
    <p1510:client id="{6D059EE7-C6C0-0672-A715-90C85B64D93E}" v="62" dt="2026-08-02T05:25:36.196"/>
    <p1510:client id="{7A97E29F-F2CE-F7CC-2126-3C8C9473BDFA}" v="4" dt="2026-08-02T05:58:34.778"/>
    <p1510:client id="{807B42A6-485B-A27C-A725-1F51A3052337}" v="68" dt="2026-08-02T05:12:38.062"/>
    <p1510:client id="{91FA8F12-3CE2-DE50-8A70-4B9E6BF58173}" v="2" dt="2026-08-02T05:32:12.901"/>
    <p1510:client id="{D20D15C9-3456-F2B2-24DF-DBE8A184BD21}" v="102" dt="2026-08-02T05:13:28.485"/>
    <p1510:client id="{D5781C14-33BC-25A3-41A9-547F788C2050}" v="6" dt="2026-08-02T14:29:44.031"/>
    <p1510:client id="{D975A5A0-4EDE-FCAD-AF00-DC723D4AA9F0}" v="359" dt="2026-08-02T06:42:35.481"/>
    <p1510:client id="{DB86BCBA-4750-A5A0-18F1-60550F273CB4}" v="160" dt="2026-08-02T05:30:49.5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6045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Framing for the whole deck: every finding is stated as headroom — where there is room to gain — rather than as a failure of a district, a school or a child.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60C57-3834-5DF1-C869-8F0E8A221B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8FA71-BA48-A36D-7BE3-5D7B45E8F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862CA-132B-7050-C677-3D3E48388AAC}"/>
              </a:ext>
            </a:extLst>
          </p:cNvPr>
          <p:cNvSpPr>
            <a:spLocks noGrp="1"/>
          </p:cNvSpPr>
          <p:nvPr>
            <p:ph type="body" idx="1"/>
          </p:nvPr>
        </p:nvSpPr>
        <p:spPr/>
        <p:txBody>
          <a:bodyPr/>
          <a:lstStyle/>
          <a:p>
            <a:r>
              <a:rPr lang="en-US"/>
              <a:t>Why it matters: Karnataka already assesses every child in these grades. The opportunity is in reading that assessment down to the level where teaching happens.</a:t>
            </a:r>
          </a:p>
        </p:txBody>
      </p:sp>
      <p:sp>
        <p:nvSpPr>
          <p:cNvPr id="4" name="Slide Number Placeholder 3">
            <a:extLst>
              <a:ext uri="{FF2B5EF4-FFF2-40B4-BE49-F238E27FC236}">
                <a16:creationId xmlns:a16="http://schemas.microsoft.com/office/drawing/2014/main" id="{38366009-1559-11F5-CF30-3E3B8FE069D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56565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Grade view: multiplication, number sense and measurement barely move between grade 4 and grade 6. Different children sat each paper, so this is a cohort comparison and not a trajectory for any one child.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Presentation is held identical inside every regrouping pair, so the only thing changing between the two questions is the carry or the borrow. Three of six candidate pairs were excluded because presentation moved as well.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Descriptive, not causal, and n = 28. Both indices are equal-weighted and min-max scaled within Karnataka. Three districts report zero out-of-school children, so their Education Access value rests on one component and is flagged wherever it appears.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16C15-8245-1C38-6301-60A5818A7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DCA94-C2F9-44D6-6CE7-339C23589C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3CD8A-C297-E2A9-9A5C-F7EE94190AEB}"/>
              </a:ext>
            </a:extLst>
          </p:cNvPr>
          <p:cNvSpPr>
            <a:spLocks noGrp="1"/>
          </p:cNvSpPr>
          <p:nvPr>
            <p:ph type="body" idx="1"/>
          </p:nvPr>
        </p:nvSpPr>
        <p:spPr/>
        <p:txBody>
          <a:bodyPr/>
          <a:lstStyle/>
          <a:p>
            <a:r>
              <a:rPr lang="en-US"/>
              <a:t>Descriptive, not causal, and n = 28. Both indices are equal-weighted and min-max scaled within Karnataka. Three districts report zero out-of-school children, so their Education Access value rests on one component and is flagged wherever it appears.</a:t>
            </a:r>
          </a:p>
        </p:txBody>
      </p:sp>
      <p:sp>
        <p:nvSpPr>
          <p:cNvPr id="4" name="Slide Number Placeholder 3">
            <a:extLst>
              <a:ext uri="{FF2B5EF4-FFF2-40B4-BE49-F238E27FC236}">
                <a16:creationId xmlns:a16="http://schemas.microsoft.com/office/drawing/2014/main" id="{BD2B54BC-64EC-2540-7177-921D81FACD5A}"/>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910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4235-BEE6-1186-7D09-F7732E0C8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BEF3F-B4FE-3645-BA84-952FF93CC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244F0C-0C78-70A5-EA68-9C28829D27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16284C-6FAD-208F-2959-2D5B233AC0E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581074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3E5A1-6DAC-3924-B955-BE2D8BD5B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C75BB-E376-4A2C-5FA7-3CBB82BF4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7883-5F54-912F-D2BC-47C3701F81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7DFB90-E1EF-C462-CE9D-3AAE86007B70}"/>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254906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8C14C-3C43-7A13-3C7A-BF21327626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724F2-899A-31EE-59A3-EE567AF9A1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0190A-8958-7F89-88BF-658176064D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80AE11-2923-D752-C29E-65BC5B6182AC}"/>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979447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5D83A-39EC-E59C-0C1B-228963DA4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200BE-9979-24B0-3E2B-6E2DD88A5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0EF70-5702-0FBC-6031-180C8E4147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43E281-36E0-5D1B-E614-42E4E948659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254060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640080" y="548640"/>
            <a:ext cx="8229600" cy="274320"/>
          </a:xfrm>
          <a:prstGeom prst="rect">
            <a:avLst/>
          </a:prstGeom>
          <a:noFill/>
          <a:ln/>
        </p:spPr>
        <p:txBody>
          <a:bodyPr wrap="square" lIns="0" tIns="0" rIns="0" bIns="0" rtlCol="0" anchor="ctr"/>
          <a:lstStyle/>
          <a:p>
            <a:pPr marL="0" indent="0">
              <a:buNone/>
            </a:pPr>
            <a:r>
              <a:rPr lang="en-US" sz="1050" b="1" kern="0" spc="200" err="1">
                <a:solidFill>
                  <a:srgbClr val="E8B10A"/>
                </a:solidFill>
                <a:latin typeface="Calibri"/>
                <a:ea typeface="Calibri"/>
                <a:cs typeface="Calibri"/>
              </a:rPr>
              <a:t>Datathon</a:t>
            </a:r>
            <a:r>
              <a:rPr lang="en-US" sz="1050" b="1" kern="0" spc="200">
                <a:solidFill>
                  <a:srgbClr val="E8B10A"/>
                </a:solidFill>
                <a:latin typeface="Calibri"/>
                <a:ea typeface="Calibri"/>
                <a:cs typeface="Calibri"/>
              </a:rPr>
              <a:t> 2026 · Akshara Foundation × ACSEL</a:t>
            </a:r>
            <a:endParaRPr lang="en-US" sz="1050">
              <a:latin typeface="Calibri"/>
              <a:ea typeface="Calibri"/>
              <a:cs typeface="Calibri"/>
            </a:endParaRPr>
          </a:p>
        </p:txBody>
      </p:sp>
      <p:sp>
        <p:nvSpPr>
          <p:cNvPr id="4" name="Text 2"/>
          <p:cNvSpPr/>
          <p:nvPr/>
        </p:nvSpPr>
        <p:spPr>
          <a:xfrm>
            <a:off x="640080" y="1272988"/>
            <a:ext cx="7680960" cy="3161852"/>
          </a:xfrm>
          <a:prstGeom prst="rect">
            <a:avLst/>
          </a:prstGeom>
          <a:noFill/>
          <a:ln/>
        </p:spPr>
        <p:txBody>
          <a:bodyPr wrap="square" lIns="0" tIns="0" rIns="0" bIns="0" rtlCol="0" anchor="ctr"/>
          <a:lstStyle/>
          <a:p>
            <a:pPr>
              <a:lnSpc>
                <a:spcPct val="106000"/>
              </a:lnSpc>
            </a:pPr>
            <a:r>
              <a:rPr lang="en-US" sz="4400" b="1">
                <a:solidFill>
                  <a:srgbClr val="FFFFFF"/>
                </a:solidFill>
                <a:latin typeface="Calibri"/>
                <a:ea typeface="Calibri"/>
                <a:cs typeface="Calibri"/>
              </a:rPr>
              <a:t>Exploring the Akshara Dataset: </a:t>
            </a:r>
            <a:r>
              <a:rPr lang="en-US" sz="2400" b="1">
                <a:solidFill>
                  <a:srgbClr val="FFFFFF"/>
                </a:solidFill>
                <a:latin typeface="Calibri"/>
                <a:ea typeface="Calibri"/>
                <a:cs typeface="Calibri"/>
              </a:rPr>
              <a:t>Descriptive Analysis and Cross-Dataset Insights</a:t>
            </a:r>
            <a:endParaRPr lang="en-US" sz="2400">
              <a:latin typeface="Calibri"/>
              <a:ea typeface="Calibri"/>
              <a:cs typeface="Calibri"/>
            </a:endParaRPr>
          </a:p>
        </p:txBody>
      </p:sp>
      <p:sp>
        <p:nvSpPr>
          <p:cNvPr id="5" name="Text 3"/>
          <p:cNvSpPr/>
          <p:nvPr/>
        </p:nvSpPr>
        <p:spPr>
          <a:xfrm>
            <a:off x="640080" y="4572000"/>
            <a:ext cx="6949440" cy="822960"/>
          </a:xfrm>
          <a:prstGeom prst="rect">
            <a:avLst/>
          </a:prstGeom>
          <a:noFill/>
          <a:ln/>
        </p:spPr>
        <p:txBody>
          <a:bodyPr wrap="square" lIns="0" tIns="0" rIns="0" bIns="0" rtlCol="0" anchor="ctr"/>
          <a:lstStyle/>
          <a:p>
            <a:r>
              <a:rPr lang="en-US">
                <a:solidFill>
                  <a:srgbClr val="C9C9C9"/>
                </a:solidFill>
                <a:ea typeface="Calibri"/>
                <a:cs typeface="Calibri"/>
              </a:rPr>
              <a:t>A diagnosis that names the gap at the level a teacher can act on.</a:t>
            </a:r>
          </a:p>
        </p:txBody>
      </p:sp>
      <p:sp>
        <p:nvSpPr>
          <p:cNvPr id="6" name="Text 4"/>
          <p:cNvSpPr/>
          <p:nvPr/>
        </p:nvSpPr>
        <p:spPr>
          <a:xfrm>
            <a:off x="8686800" y="1151606"/>
            <a:ext cx="3108960" cy="201168"/>
          </a:xfrm>
          <a:prstGeom prst="rect">
            <a:avLst/>
          </a:prstGeom>
          <a:noFill/>
          <a:ln/>
        </p:spPr>
        <p:txBody>
          <a:bodyPr wrap="square" lIns="0" tIns="0" rIns="0" bIns="0" rtlCol="0" anchor="ctr"/>
          <a:lstStyle/>
          <a:p>
            <a:pPr marL="0" indent="0">
              <a:buNone/>
            </a:pPr>
            <a:r>
              <a:rPr lang="en-US" sz="1000" b="1" kern="0" spc="160">
                <a:solidFill>
                  <a:srgbClr val="E8B10A"/>
                </a:solidFill>
                <a:latin typeface="Calibri" panose="020F0502020204030204" pitchFamily="34" charset="0"/>
                <a:ea typeface="Calibri" panose="020F0502020204030204" pitchFamily="34" charset="0"/>
                <a:cs typeface="Calibri" panose="020F0502020204030204" pitchFamily="34" charset="0"/>
              </a:rPr>
              <a:t>TEAM</a:t>
            </a:r>
            <a:endParaRPr lang="en-US" sz="1000"/>
          </a:p>
        </p:txBody>
      </p:sp>
      <p:sp>
        <p:nvSpPr>
          <p:cNvPr id="7" name="Text 5"/>
          <p:cNvSpPr/>
          <p:nvPr/>
        </p:nvSpPr>
        <p:spPr>
          <a:xfrm>
            <a:off x="8686800" y="1416782"/>
            <a:ext cx="3108960" cy="365760"/>
          </a:xfrm>
          <a:prstGeom prst="rect">
            <a:avLst/>
          </a:prstGeom>
          <a:noFill/>
          <a:ln/>
        </p:spPr>
        <p:txBody>
          <a:bodyPr wrap="square" lIns="0" tIns="0" rIns="0" bIns="0" rtlCol="0" anchor="t"/>
          <a:lstStyle/>
          <a:p>
            <a:pPr marL="0" indent="0">
              <a:lnSpc>
                <a:spcPct val="126000"/>
              </a:lnSpc>
              <a:buNone/>
            </a:pPr>
            <a:r>
              <a:rPr lang="en-US" sz="2000">
                <a:solidFill>
                  <a:srgbClr val="FFFFFF"/>
                </a:solidFill>
                <a:latin typeface="Calibri" panose="020F0502020204030204" pitchFamily="34" charset="0"/>
                <a:ea typeface="Calibri" panose="020F0502020204030204" pitchFamily="34" charset="0"/>
                <a:cs typeface="Calibri" panose="020F0502020204030204" pitchFamily="34" charset="0"/>
              </a:rPr>
              <a:t>Outliers</a:t>
            </a:r>
            <a:endParaRPr lang="en-US" sz="2000"/>
          </a:p>
        </p:txBody>
      </p:sp>
      <p:sp>
        <p:nvSpPr>
          <p:cNvPr id="8" name="Text 6"/>
          <p:cNvSpPr/>
          <p:nvPr/>
        </p:nvSpPr>
        <p:spPr>
          <a:xfrm>
            <a:off x="8686800" y="1974566"/>
            <a:ext cx="3108960" cy="201168"/>
          </a:xfrm>
          <a:prstGeom prst="rect">
            <a:avLst/>
          </a:prstGeom>
          <a:noFill/>
          <a:ln/>
        </p:spPr>
        <p:txBody>
          <a:bodyPr wrap="square" lIns="0" tIns="0" rIns="0" bIns="0" rtlCol="0" anchor="ctr"/>
          <a:lstStyle/>
          <a:p>
            <a:pPr marL="0" indent="0">
              <a:buNone/>
            </a:pPr>
            <a:r>
              <a:rPr lang="en-US" sz="1000" b="1" kern="0" spc="160">
                <a:solidFill>
                  <a:srgbClr val="E8B10A"/>
                </a:solidFill>
                <a:latin typeface="Calibri" panose="020F0502020204030204" pitchFamily="34" charset="0"/>
                <a:ea typeface="Calibri" panose="020F0502020204030204" pitchFamily="34" charset="0"/>
                <a:cs typeface="Calibri" panose="020F0502020204030204" pitchFamily="34" charset="0"/>
              </a:rPr>
              <a:t>MEMBERS</a:t>
            </a:r>
            <a:endParaRPr lang="en-US" sz="1000"/>
          </a:p>
        </p:txBody>
      </p:sp>
      <p:sp>
        <p:nvSpPr>
          <p:cNvPr id="9" name="Text 7"/>
          <p:cNvSpPr/>
          <p:nvPr/>
        </p:nvSpPr>
        <p:spPr>
          <a:xfrm>
            <a:off x="8686800" y="2239742"/>
            <a:ext cx="3108960" cy="1005840"/>
          </a:xfrm>
          <a:prstGeom prst="rect">
            <a:avLst/>
          </a:prstGeom>
          <a:noFill/>
          <a:ln/>
        </p:spPr>
        <p:txBody>
          <a:bodyPr wrap="square" lIns="0" tIns="0" rIns="0" bIns="0" rtlCol="0" anchor="t"/>
          <a:lstStyle/>
          <a:p>
            <a:pPr marL="0" indent="0">
              <a:lnSpc>
                <a:spcPct val="126000"/>
              </a:lnSpc>
              <a:buNone/>
            </a:pPr>
            <a:r>
              <a:rPr lang="en-US" sz="1400" err="1">
                <a:solidFill>
                  <a:srgbClr val="FFFFFF"/>
                </a:solidFill>
                <a:latin typeface="Calibri" panose="020F0502020204030204" pitchFamily="34" charset="0"/>
                <a:ea typeface="Calibri" panose="020F0502020204030204" pitchFamily="34" charset="0"/>
                <a:cs typeface="Calibri" panose="020F0502020204030204" pitchFamily="34" charset="0"/>
              </a:rPr>
              <a:t>Lilekh</a:t>
            </a:r>
            <a:r>
              <a:rPr lang="en-US" sz="1400">
                <a:solidFill>
                  <a:srgbClr val="FFFFFF"/>
                </a:solidFill>
                <a:latin typeface="Calibri" panose="020F0502020204030204" pitchFamily="34" charset="0"/>
                <a:ea typeface="Calibri" panose="020F0502020204030204" pitchFamily="34" charset="0"/>
                <a:cs typeface="Calibri" panose="020F0502020204030204" pitchFamily="34" charset="0"/>
              </a:rPr>
              <a:t> N</a:t>
            </a:r>
            <a:endParaRPr lang="en-US" sz="1400"/>
          </a:p>
          <a:p>
            <a:pPr marL="0" indent="0">
              <a:lnSpc>
                <a:spcPct val="126000"/>
              </a:lnSpc>
              <a:buNone/>
            </a:pPr>
            <a:r>
              <a:rPr lang="en-US" sz="1400" err="1">
                <a:solidFill>
                  <a:srgbClr val="FFFFFF"/>
                </a:solidFill>
                <a:latin typeface="Calibri" panose="020F0502020204030204" pitchFamily="34" charset="0"/>
                <a:ea typeface="Calibri" panose="020F0502020204030204" pitchFamily="34" charset="0"/>
                <a:cs typeface="Calibri" panose="020F0502020204030204" pitchFamily="34" charset="0"/>
              </a:rPr>
              <a:t>Shorab</a:t>
            </a:r>
            <a:r>
              <a:rPr lang="en-US" sz="1400">
                <a:solidFill>
                  <a:srgbClr val="FFFFFF"/>
                </a:solidFill>
                <a:latin typeface="Calibri" panose="020F0502020204030204" pitchFamily="34" charset="0"/>
                <a:ea typeface="Calibri" panose="020F0502020204030204" pitchFamily="34" charset="0"/>
                <a:cs typeface="Calibri" panose="020F0502020204030204" pitchFamily="34" charset="0"/>
              </a:rPr>
              <a:t> Nazeer</a:t>
            </a:r>
            <a:endParaRPr lang="en-US" sz="1400"/>
          </a:p>
          <a:p>
            <a:pPr marL="0" indent="0">
              <a:lnSpc>
                <a:spcPct val="126000"/>
              </a:lnSpc>
              <a:buNone/>
            </a:pPr>
            <a:r>
              <a:rPr lang="en-US" sz="1400">
                <a:solidFill>
                  <a:srgbClr val="FFFFFF"/>
                </a:solidFill>
                <a:latin typeface="Calibri" panose="020F0502020204030204" pitchFamily="34" charset="0"/>
                <a:ea typeface="Calibri" panose="020F0502020204030204" pitchFamily="34" charset="0"/>
                <a:cs typeface="Calibri" panose="020F0502020204030204" pitchFamily="34" charset="0"/>
              </a:rPr>
              <a:t>Vatsal </a:t>
            </a:r>
            <a:r>
              <a:rPr lang="en-US" sz="1400" err="1">
                <a:solidFill>
                  <a:srgbClr val="FFFFFF"/>
                </a:solidFill>
                <a:latin typeface="Calibri" panose="020F0502020204030204" pitchFamily="34" charset="0"/>
                <a:ea typeface="Calibri" panose="020F0502020204030204" pitchFamily="34" charset="0"/>
                <a:cs typeface="Calibri" panose="020F0502020204030204" pitchFamily="34" charset="0"/>
              </a:rPr>
              <a:t>Vaghasiya</a:t>
            </a:r>
            <a:endParaRPr lang="en-US" sz="1400"/>
          </a:p>
        </p:txBody>
      </p:sp>
      <p:sp>
        <p:nvSpPr>
          <p:cNvPr id="10" name="Text 8"/>
          <p:cNvSpPr/>
          <p:nvPr/>
        </p:nvSpPr>
        <p:spPr>
          <a:xfrm>
            <a:off x="8686800" y="3391886"/>
            <a:ext cx="3108960" cy="201168"/>
          </a:xfrm>
          <a:prstGeom prst="rect">
            <a:avLst/>
          </a:prstGeom>
          <a:noFill/>
          <a:ln/>
        </p:spPr>
        <p:txBody>
          <a:bodyPr wrap="square" lIns="0" tIns="0" rIns="0" bIns="0" rtlCol="0" anchor="ctr"/>
          <a:lstStyle/>
          <a:p>
            <a:r>
              <a:rPr lang="en-US" sz="1000" b="1" kern="0" spc="160">
                <a:solidFill>
                  <a:srgbClr val="E8B10A"/>
                </a:solidFill>
                <a:latin typeface="Calibri"/>
                <a:ea typeface="Calibri"/>
                <a:cs typeface="Calibri"/>
              </a:rPr>
              <a:t>Track chosen</a:t>
            </a:r>
            <a:endParaRPr lang="en-US"/>
          </a:p>
        </p:txBody>
      </p:sp>
      <p:sp>
        <p:nvSpPr>
          <p:cNvPr id="11" name="Text 9"/>
          <p:cNvSpPr/>
          <p:nvPr/>
        </p:nvSpPr>
        <p:spPr>
          <a:xfrm>
            <a:off x="8686800" y="3657062"/>
            <a:ext cx="3108960" cy="640080"/>
          </a:xfrm>
          <a:prstGeom prst="rect">
            <a:avLst/>
          </a:prstGeom>
          <a:noFill/>
          <a:ln/>
        </p:spPr>
        <p:txBody>
          <a:bodyPr wrap="square" lIns="0" tIns="0" rIns="0" bIns="0" rtlCol="0" anchor="t"/>
          <a:lstStyle/>
          <a:p>
            <a:pPr marL="0" indent="0">
              <a:lnSpc>
                <a:spcPct val="126000"/>
              </a:lnSpc>
              <a:buNone/>
            </a:pPr>
            <a:r>
              <a:rPr lang="en-US" sz="1400">
                <a:solidFill>
                  <a:srgbClr val="FFFFFF"/>
                </a:solidFill>
                <a:latin typeface="Calibri" panose="020F0502020204030204" pitchFamily="34" charset="0"/>
                <a:ea typeface="Calibri" panose="020F0502020204030204" pitchFamily="34" charset="0"/>
                <a:cs typeface="Calibri" panose="020F0502020204030204" pitchFamily="34" charset="0"/>
              </a:rPr>
              <a:t>Data insights &amp; </a:t>
            </a:r>
            <a:r>
              <a:rPr lang="en-US" sz="1400" err="1">
                <a:solidFill>
                  <a:srgbClr val="FFFFFF"/>
                </a:solidFill>
                <a:latin typeface="Calibri" panose="020F0502020204030204" pitchFamily="34" charset="0"/>
                <a:ea typeface="Calibri" panose="020F0502020204030204" pitchFamily="34" charset="0"/>
                <a:cs typeface="Calibri" panose="020F0502020204030204" pitchFamily="34" charset="0"/>
              </a:rPr>
              <a:t>visualisation</a:t>
            </a:r>
            <a:endParaRPr lang="en-US" sz="1400" err="1"/>
          </a:p>
          <a:p>
            <a:pPr marL="0" indent="0">
              <a:lnSpc>
                <a:spcPct val="126000"/>
              </a:lnSpc>
              <a:buNone/>
            </a:pPr>
            <a:r>
              <a:rPr lang="en-US" sz="1400">
                <a:solidFill>
                  <a:srgbClr val="FFFFFF"/>
                </a:solidFill>
                <a:latin typeface="Calibri" panose="020F0502020204030204" pitchFamily="34" charset="0"/>
                <a:ea typeface="Calibri" panose="020F0502020204030204" pitchFamily="34" charset="0"/>
                <a:cs typeface="Calibri" panose="020F0502020204030204" pitchFamily="34" charset="0"/>
              </a:rPr>
              <a:t>for foundational learning</a:t>
            </a:r>
            <a:endParaRPr lang="en-US" sz="1400"/>
          </a:p>
        </p:txBody>
      </p:sp>
      <p:sp>
        <p:nvSpPr>
          <p:cNvPr id="13" name="Text 11"/>
          <p:cNvSpPr/>
          <p:nvPr/>
        </p:nvSpPr>
        <p:spPr>
          <a:xfrm>
            <a:off x="8686800" y="4662902"/>
            <a:ext cx="3108960" cy="640080"/>
          </a:xfrm>
          <a:prstGeom prst="rect">
            <a:avLst/>
          </a:prstGeom>
          <a:noFill/>
          <a:ln/>
        </p:spPr>
        <p:txBody>
          <a:bodyPr wrap="square" lIns="0" tIns="0" rIns="0" bIns="0" rtlCol="0" anchor="t"/>
          <a:lstStyle/>
          <a:p>
            <a:pPr marL="0" indent="0">
              <a:lnSpc>
                <a:spcPct val="126000"/>
              </a:lnSpc>
              <a:buNone/>
            </a:pPr>
            <a:endParaRPr lang="en-US" sz="1400">
              <a:solidFill>
                <a:srgbClr val="C9C9C9"/>
              </a:solidFill>
              <a:ea typeface="Calibri"/>
              <a:cs typeface="Calibri"/>
            </a:endParaRPr>
          </a:p>
        </p:txBody>
      </p:sp>
      <p:sp>
        <p:nvSpPr>
          <p:cNvPr id="14" name="Text 12"/>
          <p:cNvSpPr/>
          <p:nvPr/>
        </p:nvSpPr>
        <p:spPr>
          <a:xfrm>
            <a:off x="8686800" y="4433718"/>
            <a:ext cx="3108960" cy="201168"/>
          </a:xfrm>
          <a:prstGeom prst="rect">
            <a:avLst/>
          </a:prstGeom>
          <a:noFill/>
          <a:ln/>
        </p:spPr>
        <p:txBody>
          <a:bodyPr wrap="square" lIns="0" tIns="0" rIns="0" bIns="0" rtlCol="0" anchor="ctr"/>
          <a:lstStyle/>
          <a:p>
            <a:pPr marL="0" indent="0">
              <a:buNone/>
            </a:pPr>
            <a:r>
              <a:rPr lang="en-US" sz="1000" b="1" kern="0" spc="160">
                <a:solidFill>
                  <a:srgbClr val="E8B10A"/>
                </a:solidFill>
                <a:latin typeface="Calibri" panose="020F0502020204030204" pitchFamily="34" charset="0"/>
                <a:ea typeface="Calibri" panose="020F0502020204030204" pitchFamily="34" charset="0"/>
                <a:cs typeface="Calibri" panose="020F0502020204030204" pitchFamily="34" charset="0"/>
              </a:rPr>
              <a:t>REPO</a:t>
            </a:r>
            <a:endParaRPr lang="en-US" sz="1000"/>
          </a:p>
        </p:txBody>
      </p:sp>
      <p:sp>
        <p:nvSpPr>
          <p:cNvPr id="15" name="Text 13"/>
          <p:cNvSpPr/>
          <p:nvPr/>
        </p:nvSpPr>
        <p:spPr>
          <a:xfrm>
            <a:off x="8686800" y="4799500"/>
            <a:ext cx="3200400" cy="365760"/>
          </a:xfrm>
          <a:prstGeom prst="rect">
            <a:avLst/>
          </a:prstGeom>
          <a:noFill/>
          <a:ln/>
        </p:spPr>
        <p:txBody>
          <a:bodyPr wrap="square" lIns="0" tIns="0" rIns="0" bIns="0" rtlCol="0" anchor="t"/>
          <a:lstStyle/>
          <a:p>
            <a:pPr marL="0" indent="0">
              <a:lnSpc>
                <a:spcPct val="126000"/>
              </a:lnSpc>
              <a:buNone/>
            </a:pPr>
            <a:r>
              <a:rPr lang="en-US" sz="1100">
                <a:solidFill>
                  <a:srgbClr val="C9C9C9"/>
                </a:solidFill>
                <a:latin typeface="Calibri" panose="020F0502020204030204" pitchFamily="34" charset="0"/>
                <a:ea typeface="Calibri" panose="020F0502020204030204" pitchFamily="34" charset="0"/>
                <a:cs typeface="Calibri" panose="020F0502020204030204" pitchFamily="34" charset="0"/>
              </a:rPr>
              <a:t> github.com/vatsal057/outliers</a:t>
            </a:r>
            <a:endParaRPr lang="en-US" sz="1100"/>
          </a:p>
        </p:txBody>
      </p:sp>
      <p:sp>
        <p:nvSpPr>
          <p:cNvPr id="16" name="Text 14"/>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50" b="1">
                <a:solidFill>
                  <a:srgbClr val="E8B10A"/>
                </a:solidFill>
                <a:latin typeface="Calibri" panose="020F0502020204030204" pitchFamily="34" charset="0"/>
                <a:ea typeface="Calibri" panose="020F0502020204030204" pitchFamily="34" charset="0"/>
                <a:cs typeface="Calibri" panose="020F0502020204030204" pitchFamily="34" charset="0"/>
              </a:rPr>
              <a:t>01</a:t>
            </a:r>
            <a:endParaRPr lang="en-US" sz="10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DATASET UNDERSTANDING</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ea typeface="Calibri"/>
                <a:cs typeface="Calibri"/>
              </a:rPr>
              <a:t> Understanding the data </a:t>
            </a:r>
            <a:endParaRPr lang="en-US" sz="3000">
              <a:solidFill>
                <a:srgbClr val="000000"/>
              </a:solidFill>
              <a:ea typeface="Calibri"/>
              <a:cs typeface="Calibri"/>
            </a:endParaRPr>
          </a:p>
        </p:txBody>
      </p:sp>
      <p:sp>
        <p:nvSpPr>
          <p:cNvPr id="5" name="Text 3"/>
          <p:cNvSpPr/>
          <p:nvPr/>
        </p:nvSpPr>
        <p:spPr>
          <a:xfrm>
            <a:off x="640080" y="1755648"/>
            <a:ext cx="2606040" cy="432262"/>
          </a:xfrm>
          <a:prstGeom prst="rect">
            <a:avLst/>
          </a:prstGeom>
          <a:noFill/>
          <a:ln/>
        </p:spPr>
        <p:txBody>
          <a:bodyPr wrap="square" lIns="0" tIns="0" rIns="0" bIns="0" rtlCol="0" anchor="t"/>
          <a:lstStyle/>
          <a:p>
            <a:pPr marL="0" indent="0">
              <a:buNone/>
            </a:pPr>
            <a:r>
              <a:rPr lang="en-US" sz="2600" b="1">
                <a:solidFill>
                  <a:srgbClr val="111111"/>
                </a:solidFill>
                <a:latin typeface="Calibri"/>
                <a:ea typeface="Calibri"/>
                <a:cs typeface="Calibri"/>
              </a:rPr>
              <a:t>13,79,087</a:t>
            </a:r>
            <a:endParaRPr lang="en-US" sz="2600"/>
          </a:p>
        </p:txBody>
      </p:sp>
      <p:sp>
        <p:nvSpPr>
          <p:cNvPr id="6" name="Text 4"/>
          <p:cNvSpPr/>
          <p:nvPr/>
        </p:nvSpPr>
        <p:spPr>
          <a:xfrm>
            <a:off x="640080" y="2160478"/>
            <a:ext cx="2606040" cy="548640"/>
          </a:xfrm>
          <a:prstGeom prst="rect">
            <a:avLst/>
          </a:prstGeom>
          <a:noFill/>
          <a:ln/>
        </p:spPr>
        <p:txBody>
          <a:bodyPr wrap="square" lIns="0" tIns="0" rIns="0" bIns="0" rtlCol="0" anchor="ctr"/>
          <a:lstStyle/>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children assessed,</a:t>
            </a:r>
            <a:endParaRPr lang="en-US" sz="1200"/>
          </a:p>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grades 4 to 6</a:t>
            </a:r>
            <a:endParaRPr lang="en-US" sz="1200"/>
          </a:p>
        </p:txBody>
      </p:sp>
      <p:sp>
        <p:nvSpPr>
          <p:cNvPr id="7" name="Text 5"/>
          <p:cNvSpPr/>
          <p:nvPr/>
        </p:nvSpPr>
        <p:spPr>
          <a:xfrm>
            <a:off x="3429000" y="1755648"/>
            <a:ext cx="2606040" cy="432262"/>
          </a:xfrm>
          <a:prstGeom prst="rect">
            <a:avLst/>
          </a:prstGeom>
          <a:noFill/>
          <a:ln/>
        </p:spPr>
        <p:txBody>
          <a:bodyPr wrap="square" lIns="0" tIns="0" rIns="0" bIns="0" rtlCol="0" anchor="t"/>
          <a:lstStyle/>
          <a:p>
            <a:pPr marL="0" indent="0">
              <a:buNone/>
            </a:pPr>
            <a:r>
              <a:rPr lang="en-US" sz="2600" b="1">
                <a:solidFill>
                  <a:srgbClr val="111111"/>
                </a:solidFill>
                <a:latin typeface="Calibri" panose="020F0502020204030204" pitchFamily="34" charset="0"/>
                <a:ea typeface="Calibri" panose="020F0502020204030204" pitchFamily="34" charset="0"/>
                <a:cs typeface="Calibri" panose="020F0502020204030204" pitchFamily="34" charset="0"/>
              </a:rPr>
              <a:t>9</a:t>
            </a:r>
            <a:endParaRPr lang="en-US" sz="2600"/>
          </a:p>
        </p:txBody>
      </p:sp>
      <p:sp>
        <p:nvSpPr>
          <p:cNvPr id="8" name="Text 6"/>
          <p:cNvSpPr/>
          <p:nvPr/>
        </p:nvSpPr>
        <p:spPr>
          <a:xfrm>
            <a:off x="3429000" y="2160478"/>
            <a:ext cx="2606040" cy="548640"/>
          </a:xfrm>
          <a:prstGeom prst="rect">
            <a:avLst/>
          </a:prstGeom>
          <a:noFill/>
          <a:ln/>
        </p:spPr>
        <p:txBody>
          <a:bodyPr wrap="square" lIns="0" tIns="0" rIns="0" bIns="0" rtlCol="0" anchor="ctr"/>
          <a:lstStyle/>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papers across</a:t>
            </a:r>
            <a:endParaRPr lang="en-US" sz="1200"/>
          </a:p>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2022-23 to 2024-25</a:t>
            </a:r>
            <a:endParaRPr lang="en-US" sz="1200"/>
          </a:p>
        </p:txBody>
      </p:sp>
      <p:sp>
        <p:nvSpPr>
          <p:cNvPr id="9" name="Text 7"/>
          <p:cNvSpPr/>
          <p:nvPr/>
        </p:nvSpPr>
        <p:spPr>
          <a:xfrm>
            <a:off x="6217920" y="1755648"/>
            <a:ext cx="2606040" cy="432262"/>
          </a:xfrm>
          <a:prstGeom prst="rect">
            <a:avLst/>
          </a:prstGeom>
          <a:noFill/>
          <a:ln/>
        </p:spPr>
        <p:txBody>
          <a:bodyPr wrap="square" lIns="0" tIns="0" rIns="0" bIns="0" rtlCol="0" anchor="t"/>
          <a:lstStyle/>
          <a:p>
            <a:pPr marL="0" indent="0">
              <a:buNone/>
            </a:pPr>
            <a:r>
              <a:rPr lang="en-US" sz="2600" b="1">
                <a:solidFill>
                  <a:srgbClr val="111111"/>
                </a:solidFill>
                <a:latin typeface="Calibri" panose="020F0502020204030204" pitchFamily="34" charset="0"/>
                <a:ea typeface="Calibri" panose="020F0502020204030204" pitchFamily="34" charset="0"/>
                <a:cs typeface="Calibri" panose="020F0502020204030204" pitchFamily="34" charset="0"/>
              </a:rPr>
              <a:t>11</a:t>
            </a:r>
            <a:endParaRPr lang="en-US" sz="2600"/>
          </a:p>
        </p:txBody>
      </p:sp>
      <p:sp>
        <p:nvSpPr>
          <p:cNvPr id="10" name="Text 8"/>
          <p:cNvSpPr/>
          <p:nvPr/>
        </p:nvSpPr>
        <p:spPr>
          <a:xfrm>
            <a:off x="6217920" y="2160478"/>
            <a:ext cx="2606040" cy="548640"/>
          </a:xfrm>
          <a:prstGeom prst="rect">
            <a:avLst/>
          </a:prstGeom>
          <a:noFill/>
          <a:ln/>
        </p:spPr>
        <p:txBody>
          <a:bodyPr wrap="square" lIns="0" tIns="0" rIns="0" bIns="0" rtlCol="0" anchor="ctr"/>
          <a:lstStyle/>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competencies, 7 on</a:t>
            </a:r>
            <a:endParaRPr lang="en-US" sz="1200"/>
          </a:p>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every single paper</a:t>
            </a:r>
            <a:endParaRPr lang="en-US" sz="1200"/>
          </a:p>
        </p:txBody>
      </p:sp>
      <p:sp>
        <p:nvSpPr>
          <p:cNvPr id="11" name="Text 9"/>
          <p:cNvSpPr/>
          <p:nvPr/>
        </p:nvSpPr>
        <p:spPr>
          <a:xfrm>
            <a:off x="9006840" y="1755648"/>
            <a:ext cx="2606040" cy="432262"/>
          </a:xfrm>
          <a:prstGeom prst="rect">
            <a:avLst/>
          </a:prstGeom>
          <a:noFill/>
          <a:ln/>
        </p:spPr>
        <p:txBody>
          <a:bodyPr wrap="square" lIns="0" tIns="0" rIns="0" bIns="0" rtlCol="0" anchor="t"/>
          <a:lstStyle/>
          <a:p>
            <a:pPr marL="0" indent="0">
              <a:buNone/>
            </a:pPr>
            <a:r>
              <a:rPr lang="en-US" sz="2600" b="1">
                <a:solidFill>
                  <a:srgbClr val="111111"/>
                </a:solidFill>
                <a:latin typeface="Calibri" panose="020F0502020204030204" pitchFamily="34" charset="0"/>
                <a:ea typeface="Calibri" panose="020F0502020204030204" pitchFamily="34" charset="0"/>
                <a:cs typeface="Calibri" panose="020F0502020204030204" pitchFamily="34" charset="0"/>
              </a:rPr>
              <a:t>5,034</a:t>
            </a:r>
            <a:endParaRPr lang="en-US" sz="2600"/>
          </a:p>
        </p:txBody>
      </p:sp>
      <p:sp>
        <p:nvSpPr>
          <p:cNvPr id="12" name="Text 10"/>
          <p:cNvSpPr/>
          <p:nvPr/>
        </p:nvSpPr>
        <p:spPr>
          <a:xfrm>
            <a:off x="9006840" y="2160478"/>
            <a:ext cx="2606040" cy="548640"/>
          </a:xfrm>
          <a:prstGeom prst="rect">
            <a:avLst/>
          </a:prstGeom>
          <a:noFill/>
          <a:ln/>
        </p:spPr>
        <p:txBody>
          <a:bodyPr wrap="square" lIns="0" tIns="0" rIns="0" bIns="0" rtlCol="0" anchor="ctr"/>
          <a:lstStyle/>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gram panchayats,</a:t>
            </a:r>
            <a:endParaRPr lang="en-US" sz="1200"/>
          </a:p>
          <a:p>
            <a:pPr marL="0" indent="0">
              <a:lnSpc>
                <a:spcPct val="115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2,360 in all nine papers</a:t>
            </a:r>
            <a:endParaRPr lang="en-US" sz="1200"/>
          </a:p>
        </p:txBody>
      </p:sp>
      <p:pic>
        <p:nvPicPr>
          <p:cNvPr id="13" name="Image 0" descr="/home/claude/figs/fig/nb1_c34_0.png"/>
          <p:cNvPicPr>
            <a:picLocks noChangeAspect="1"/>
          </p:cNvPicPr>
          <p:nvPr/>
        </p:nvPicPr>
        <p:blipFill>
          <a:blip r:embed="rId3"/>
          <a:stretch>
            <a:fillRect/>
          </a:stretch>
        </p:blipFill>
        <p:spPr>
          <a:xfrm>
            <a:off x="366908" y="2891998"/>
            <a:ext cx="11458183" cy="2631041"/>
          </a:xfrm>
          <a:prstGeom prst="rect">
            <a:avLst/>
          </a:prstGeom>
        </p:spPr>
      </p:pic>
      <p:sp>
        <p:nvSpPr>
          <p:cNvPr id="14" name="Text 11"/>
          <p:cNvSpPr/>
          <p:nvPr/>
        </p:nvSpPr>
        <p:spPr>
          <a:xfrm>
            <a:off x="640080" y="5587047"/>
            <a:ext cx="10911535" cy="256032"/>
          </a:xfrm>
          <a:prstGeom prst="rect">
            <a:avLst/>
          </a:prstGeom>
          <a:noFill/>
          <a:ln/>
        </p:spPr>
        <p:txBody>
          <a:bodyPr wrap="square" lIns="0" tIns="0" rIns="0" bIns="0" rtlCol="0" anchor="ctr"/>
          <a:lstStyle/>
          <a:p>
            <a:pPr marL="0" indent="0">
              <a:buNone/>
            </a:pPr>
            <a:r>
              <a:rPr lang="en-US" sz="1050" i="1">
                <a:solidFill>
                  <a:srgbClr val="9A9A9A"/>
                </a:solidFill>
                <a:latin typeface="Calibri"/>
                <a:ea typeface="Calibri"/>
                <a:cs typeface="Calibri"/>
              </a:rPr>
              <a:t>Cohort size and score distribution by grade and year </a:t>
            </a:r>
            <a:endParaRPr lang="en-US" sz="1050">
              <a:latin typeface="Calibri"/>
              <a:ea typeface="Calibri"/>
              <a:cs typeface="Calibri"/>
            </a:endParaRPr>
          </a:p>
        </p:txBody>
      </p:sp>
      <p:sp>
        <p:nvSpPr>
          <p:cNvPr id="15" name="Text 12"/>
          <p:cNvSpPr/>
          <p:nvPr/>
        </p:nvSpPr>
        <p:spPr>
          <a:xfrm>
            <a:off x="640080" y="5888736"/>
            <a:ext cx="5486400" cy="201168"/>
          </a:xfrm>
          <a:prstGeom prst="rect">
            <a:avLst/>
          </a:prstGeom>
          <a:noFill/>
          <a:ln/>
        </p:spPr>
        <p:txBody>
          <a:bodyPr wrap="square" lIns="0" tIns="0" rIns="0" bIns="0" rtlCol="0" anchor="ctr"/>
          <a:lstStyle/>
          <a:p>
            <a:pPr marL="0" indent="0">
              <a:buNone/>
            </a:pPr>
            <a:r>
              <a:rPr lang="en-US" sz="1050" b="1" kern="0" spc="160">
                <a:solidFill>
                  <a:srgbClr val="6E6E6E"/>
                </a:solidFill>
                <a:latin typeface="Calibri" panose="020F0502020204030204" pitchFamily="34" charset="0"/>
                <a:ea typeface="Calibri" panose="020F0502020204030204" pitchFamily="34" charset="0"/>
                <a:cs typeface="Calibri" panose="020F0502020204030204" pitchFamily="34" charset="0"/>
              </a:rPr>
              <a:t>CLEANING AND ASSUMPTIONS</a:t>
            </a:r>
            <a:endParaRPr lang="en-US" sz="1050"/>
          </a:p>
        </p:txBody>
      </p:sp>
      <p:sp>
        <p:nvSpPr>
          <p:cNvPr id="16" name="Text 13"/>
          <p:cNvSpPr/>
          <p:nvPr/>
        </p:nvSpPr>
        <p:spPr>
          <a:xfrm>
            <a:off x="640080" y="6144768"/>
            <a:ext cx="10911535" cy="457200"/>
          </a:xfrm>
          <a:prstGeom prst="rect">
            <a:avLst/>
          </a:prstGeom>
          <a:noFill/>
          <a:ln/>
        </p:spPr>
        <p:txBody>
          <a:bodyPr wrap="square" lIns="0" tIns="0" rIns="0" bIns="0" rtlCol="0" anchor="t"/>
          <a:lstStyle/>
          <a:p>
            <a:pPr>
              <a:lnSpc>
                <a:spcPct val="115000"/>
              </a:lnSpc>
            </a:pPr>
            <a:r>
              <a:rPr lang="en-US" sz="1200">
                <a:solidFill>
                  <a:srgbClr val="6E6E6E"/>
                </a:solidFill>
                <a:latin typeface="Calibri"/>
                <a:ea typeface="Calibri"/>
                <a:cs typeface="Calibri"/>
              </a:rPr>
              <a:t>Row-level IDs rebuilt  · a zero can mean skipped, so everything here is demonstrated mastery · the nine papers are different instruments, so item-level comparisons carry the weight · secondary context: Karnataka At A Glance 2024-25 and ASER 2024 rural.</a:t>
            </a:r>
            <a:endParaRPr lang="en-US" sz="1200">
              <a:latin typeface="Calibri"/>
              <a:ea typeface="Calibri"/>
              <a:cs typeface="Calibri"/>
            </a:endParaRPr>
          </a:p>
        </p:txBody>
      </p:sp>
      <p:sp>
        <p:nvSpPr>
          <p:cNvPr id="17" name="Text 14"/>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03</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5CD7AB-15E1-D741-2218-3837282193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64D4A8-9E88-DC17-4C48-4AD811C06049}"/>
              </a:ext>
            </a:extLst>
          </p:cNvPr>
          <p:cNvSpPr/>
          <p:nvPr/>
        </p:nvSpPr>
        <p:spPr>
          <a:xfrm>
            <a:off x="640080" y="617220"/>
            <a:ext cx="100584" cy="100584"/>
          </a:xfrm>
          <a:prstGeom prst="rect">
            <a:avLst/>
          </a:prstGeom>
          <a:solidFill>
            <a:schemeClr val="accent4">
              <a:lumMod val="50000"/>
            </a:schemeClr>
          </a:solidFill>
          <a:ln/>
        </p:spPr>
      </p:sp>
      <p:sp>
        <p:nvSpPr>
          <p:cNvPr id="3" name="Text 1">
            <a:extLst>
              <a:ext uri="{FF2B5EF4-FFF2-40B4-BE49-F238E27FC236}">
                <a16:creationId xmlns:a16="http://schemas.microsoft.com/office/drawing/2014/main" id="{8CB2E86A-2137-1C6E-84CD-C12490AC2CE8}"/>
              </a:ext>
            </a:extLst>
          </p:cNvPr>
          <p:cNvSpPr/>
          <p:nvPr/>
        </p:nvSpPr>
        <p:spPr>
          <a:xfrm>
            <a:off x="877824" y="539496"/>
            <a:ext cx="9144000" cy="256032"/>
          </a:xfrm>
          <a:prstGeom prst="rect">
            <a:avLst/>
          </a:prstGeom>
          <a:noFill/>
          <a:ln/>
        </p:spPr>
        <p:txBody>
          <a:bodyPr wrap="square" lIns="0" tIns="0" rIns="0" bIns="0" rtlCol="0" anchor="ctr"/>
          <a:lstStyle/>
          <a:p>
            <a:r>
              <a:rPr lang="en-US" sz="1100" b="1" kern="0" spc="200">
                <a:solidFill>
                  <a:schemeClr val="accent4">
                    <a:lumMod val="50000"/>
                  </a:schemeClr>
                </a:solidFill>
                <a:latin typeface="Calibri"/>
                <a:ea typeface="Calibri"/>
                <a:cs typeface="Calibri"/>
              </a:rPr>
              <a:t>THE PROBLEM STATEMENT</a:t>
            </a:r>
            <a:endParaRPr lang="en-US" sz="1100">
              <a:solidFill>
                <a:schemeClr val="accent4">
                  <a:lumMod val="50000"/>
                </a:schemeClr>
              </a:solidFill>
            </a:endParaRPr>
          </a:p>
        </p:txBody>
      </p:sp>
      <p:sp>
        <p:nvSpPr>
          <p:cNvPr id="4" name="Text 2">
            <a:extLst>
              <a:ext uri="{FF2B5EF4-FFF2-40B4-BE49-F238E27FC236}">
                <a16:creationId xmlns:a16="http://schemas.microsoft.com/office/drawing/2014/main" id="{B024253F-24B9-EB3D-8554-84F52062AADA}"/>
              </a:ext>
            </a:extLst>
          </p:cNvPr>
          <p:cNvSpPr/>
          <p:nvPr/>
        </p:nvSpPr>
        <p:spPr>
          <a:xfrm>
            <a:off x="683621" y="1001203"/>
            <a:ext cx="6601098" cy="816068"/>
          </a:xfrm>
          <a:prstGeom prst="rect">
            <a:avLst/>
          </a:prstGeom>
          <a:noFill/>
          <a:ln/>
        </p:spPr>
        <p:txBody>
          <a:bodyPr wrap="square" lIns="0" tIns="0" rIns="0" bIns="0" rtlCol="0" anchor="t"/>
          <a:lstStyle/>
          <a:p>
            <a:r>
              <a:rPr lang="en-US" sz="2800" b="1">
                <a:solidFill>
                  <a:srgbClr val="262626"/>
                </a:solidFill>
                <a:latin typeface="Calibri"/>
                <a:ea typeface="Calibri"/>
                <a:cs typeface="Calibri"/>
              </a:rPr>
              <a:t>Three in five children clear half their paper. Two in five have not yet.</a:t>
            </a:r>
            <a:endParaRPr lang="en-US"/>
          </a:p>
          <a:p>
            <a:endParaRPr lang="en-US">
              <a:solidFill>
                <a:srgbClr val="000000"/>
              </a:solidFill>
              <a:latin typeface="Calibri"/>
              <a:ea typeface="Calibri"/>
              <a:cs typeface="Calibri"/>
            </a:endParaRPr>
          </a:p>
          <a:p>
            <a:endParaRPr lang="en-US" sz="2800" b="1">
              <a:solidFill>
                <a:schemeClr val="tx1">
                  <a:lumMod val="85000"/>
                  <a:lumOff val="15000"/>
                </a:schemeClr>
              </a:solidFill>
              <a:ea typeface="Calibri"/>
              <a:cs typeface="Calibri"/>
            </a:endParaRPr>
          </a:p>
        </p:txBody>
      </p:sp>
      <p:sp>
        <p:nvSpPr>
          <p:cNvPr id="5" name="Text 3">
            <a:extLst>
              <a:ext uri="{FF2B5EF4-FFF2-40B4-BE49-F238E27FC236}">
                <a16:creationId xmlns:a16="http://schemas.microsoft.com/office/drawing/2014/main" id="{A6BB8751-F4B5-78D3-EFA8-7A853449D2BC}"/>
              </a:ext>
            </a:extLst>
          </p:cNvPr>
          <p:cNvSpPr/>
          <p:nvPr/>
        </p:nvSpPr>
        <p:spPr>
          <a:xfrm>
            <a:off x="640080" y="2240280"/>
            <a:ext cx="2834640" cy="698269"/>
          </a:xfrm>
          <a:prstGeom prst="rect">
            <a:avLst/>
          </a:prstGeom>
          <a:noFill/>
          <a:ln/>
        </p:spPr>
        <p:txBody>
          <a:bodyPr wrap="square" lIns="0" tIns="0" rIns="0" bIns="0" rtlCol="0" anchor="t"/>
          <a:lstStyle/>
          <a:p>
            <a:pPr marL="0" indent="0">
              <a:buNone/>
            </a:pPr>
            <a:r>
              <a:rPr lang="en-US" sz="4200" b="1">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41.8%</a:t>
            </a:r>
            <a:endParaRPr lang="en-US" sz="4200">
              <a:solidFill>
                <a:schemeClr val="accent4">
                  <a:lumMod val="50000"/>
                </a:schemeClr>
              </a:solidFill>
            </a:endParaRPr>
          </a:p>
        </p:txBody>
      </p:sp>
      <p:sp>
        <p:nvSpPr>
          <p:cNvPr id="6" name="Text 4">
            <a:extLst>
              <a:ext uri="{FF2B5EF4-FFF2-40B4-BE49-F238E27FC236}">
                <a16:creationId xmlns:a16="http://schemas.microsoft.com/office/drawing/2014/main" id="{FBD2D0F8-84E2-E6B6-A1CA-40B8A2492A14}"/>
              </a:ext>
            </a:extLst>
          </p:cNvPr>
          <p:cNvSpPr/>
          <p:nvPr/>
        </p:nvSpPr>
        <p:spPr>
          <a:xfrm>
            <a:off x="640080" y="2911117"/>
            <a:ext cx="2834640" cy="548640"/>
          </a:xfrm>
          <a:prstGeom prst="rect">
            <a:avLst/>
          </a:prstGeom>
          <a:noFill/>
          <a:ln/>
        </p:spPr>
        <p:txBody>
          <a:bodyPr wrap="square" lIns="0" tIns="0" rIns="0" bIns="0" rtlCol="0" anchor="ctr"/>
          <a:lstStyle/>
          <a:p>
            <a:pPr marL="0" indent="0">
              <a:lnSpc>
                <a:spcPct val="115000"/>
              </a:lnSpc>
              <a:buNone/>
            </a:pPr>
            <a:r>
              <a:rPr lang="en-US" sz="12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of children assessed are still</a:t>
            </a:r>
            <a:endParaRPr lang="en-US" sz="1200">
              <a:solidFill>
                <a:schemeClr val="tx1">
                  <a:lumMod val="85000"/>
                  <a:lumOff val="15000"/>
                </a:schemeClr>
              </a:solidFill>
            </a:endParaRPr>
          </a:p>
          <a:p>
            <a:pPr marL="0" indent="0">
              <a:lnSpc>
                <a:spcPct val="115000"/>
              </a:lnSpc>
              <a:buNone/>
            </a:pPr>
            <a:r>
              <a:rPr lang="en-US" sz="12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below half their own paper</a:t>
            </a:r>
            <a:endParaRPr lang="en-US" sz="1200">
              <a:solidFill>
                <a:schemeClr val="tx1">
                  <a:lumMod val="85000"/>
                  <a:lumOff val="15000"/>
                </a:schemeClr>
              </a:solidFill>
            </a:endParaRPr>
          </a:p>
        </p:txBody>
      </p:sp>
      <p:sp>
        <p:nvSpPr>
          <p:cNvPr id="7" name="Text 5">
            <a:extLst>
              <a:ext uri="{FF2B5EF4-FFF2-40B4-BE49-F238E27FC236}">
                <a16:creationId xmlns:a16="http://schemas.microsoft.com/office/drawing/2014/main" id="{7A9B86DF-73A4-E3D5-BD47-F44841538F57}"/>
              </a:ext>
            </a:extLst>
          </p:cNvPr>
          <p:cNvSpPr/>
          <p:nvPr/>
        </p:nvSpPr>
        <p:spPr>
          <a:xfrm>
            <a:off x="4023360" y="2240280"/>
            <a:ext cx="2834640" cy="698269"/>
          </a:xfrm>
          <a:prstGeom prst="rect">
            <a:avLst/>
          </a:prstGeom>
          <a:noFill/>
          <a:ln/>
        </p:spPr>
        <p:txBody>
          <a:bodyPr wrap="square" lIns="0" tIns="0" rIns="0" bIns="0" rtlCol="0" anchor="t"/>
          <a:lstStyle/>
          <a:p>
            <a:pPr marL="0" indent="0">
              <a:buNone/>
            </a:pPr>
            <a:r>
              <a:rPr lang="en-US" sz="4200" b="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6.45</a:t>
            </a:r>
            <a:endParaRPr lang="en-US" sz="4200">
              <a:solidFill>
                <a:schemeClr val="tx1">
                  <a:lumMod val="85000"/>
                  <a:lumOff val="15000"/>
                </a:schemeClr>
              </a:solidFill>
            </a:endParaRPr>
          </a:p>
        </p:txBody>
      </p:sp>
      <p:sp>
        <p:nvSpPr>
          <p:cNvPr id="8" name="Text 6">
            <a:extLst>
              <a:ext uri="{FF2B5EF4-FFF2-40B4-BE49-F238E27FC236}">
                <a16:creationId xmlns:a16="http://schemas.microsoft.com/office/drawing/2014/main" id="{42C80209-8D9A-E6C3-B441-D898536EA782}"/>
              </a:ext>
            </a:extLst>
          </p:cNvPr>
          <p:cNvSpPr/>
          <p:nvPr/>
        </p:nvSpPr>
        <p:spPr>
          <a:xfrm>
            <a:off x="4023360" y="2911117"/>
            <a:ext cx="2834640" cy="548640"/>
          </a:xfrm>
          <a:prstGeom prst="rect">
            <a:avLst/>
          </a:prstGeom>
          <a:noFill/>
          <a:ln/>
        </p:spPr>
        <p:txBody>
          <a:bodyPr wrap="square" lIns="0" tIns="0" rIns="0" bIns="0" rtlCol="0" anchor="ctr"/>
          <a:lstStyle/>
          <a:p>
            <a:pPr marL="0" indent="0">
              <a:lnSpc>
                <a:spcPct val="115000"/>
              </a:lnSpc>
              <a:buNone/>
            </a:pPr>
            <a:r>
              <a:rPr lang="en-US" sz="12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score points of headroom between</a:t>
            </a:r>
            <a:endParaRPr lang="en-US" sz="1200">
              <a:solidFill>
                <a:schemeClr val="tx1">
                  <a:lumMod val="85000"/>
                  <a:lumOff val="15000"/>
                </a:schemeClr>
              </a:solidFill>
            </a:endParaRPr>
          </a:p>
          <a:p>
            <a:pPr marL="0" indent="0">
              <a:lnSpc>
                <a:spcPct val="115000"/>
              </a:lnSpc>
              <a:buNone/>
            </a:pPr>
            <a:r>
              <a:rPr lang="en-US" sz="12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the highest and lowest district</a:t>
            </a:r>
            <a:endParaRPr lang="en-US" sz="1200">
              <a:solidFill>
                <a:schemeClr val="tx1">
                  <a:lumMod val="85000"/>
                  <a:lumOff val="15000"/>
                </a:schemeClr>
              </a:solidFill>
            </a:endParaRPr>
          </a:p>
        </p:txBody>
      </p:sp>
      <p:sp>
        <p:nvSpPr>
          <p:cNvPr id="9" name="Text 7">
            <a:extLst>
              <a:ext uri="{FF2B5EF4-FFF2-40B4-BE49-F238E27FC236}">
                <a16:creationId xmlns:a16="http://schemas.microsoft.com/office/drawing/2014/main" id="{EF01194B-1095-738D-047D-0354A7C37AA8}"/>
              </a:ext>
            </a:extLst>
          </p:cNvPr>
          <p:cNvSpPr/>
          <p:nvPr/>
        </p:nvSpPr>
        <p:spPr>
          <a:xfrm>
            <a:off x="7406640" y="2240280"/>
            <a:ext cx="3108960" cy="698269"/>
          </a:xfrm>
          <a:prstGeom prst="rect">
            <a:avLst/>
          </a:prstGeom>
          <a:noFill/>
          <a:ln/>
        </p:spPr>
        <p:txBody>
          <a:bodyPr wrap="square" lIns="0" tIns="0" rIns="0" bIns="0" rtlCol="0" anchor="t"/>
          <a:lstStyle/>
          <a:p>
            <a:pPr marL="0" indent="0">
              <a:buNone/>
            </a:pPr>
            <a:r>
              <a:rPr lang="en-US" sz="4200" b="1">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43%</a:t>
            </a:r>
            <a:endParaRPr lang="en-US" sz="4200">
              <a:solidFill>
                <a:schemeClr val="tx1">
                  <a:lumMod val="85000"/>
                  <a:lumOff val="15000"/>
                </a:schemeClr>
              </a:solidFill>
            </a:endParaRPr>
          </a:p>
        </p:txBody>
      </p:sp>
      <p:sp>
        <p:nvSpPr>
          <p:cNvPr id="10" name="Text 8">
            <a:extLst>
              <a:ext uri="{FF2B5EF4-FFF2-40B4-BE49-F238E27FC236}">
                <a16:creationId xmlns:a16="http://schemas.microsoft.com/office/drawing/2014/main" id="{4BD2A224-0E9E-46FA-06A3-32DE8E047ED5}"/>
              </a:ext>
            </a:extLst>
          </p:cNvPr>
          <p:cNvSpPr/>
          <p:nvPr/>
        </p:nvSpPr>
        <p:spPr>
          <a:xfrm>
            <a:off x="7406640" y="2911117"/>
            <a:ext cx="3108960" cy="548640"/>
          </a:xfrm>
          <a:prstGeom prst="rect">
            <a:avLst/>
          </a:prstGeom>
          <a:noFill/>
          <a:ln/>
        </p:spPr>
        <p:txBody>
          <a:bodyPr wrap="square" lIns="0" tIns="0" rIns="0" bIns="0" rtlCol="0" anchor="ctr"/>
          <a:lstStyle/>
          <a:p>
            <a:pPr marL="0" indent="0">
              <a:lnSpc>
                <a:spcPct val="115000"/>
              </a:lnSpc>
              <a:buNone/>
            </a:pPr>
            <a:r>
              <a:rPr lang="en-US" sz="12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mastery on division, the shared</a:t>
            </a:r>
            <a:endParaRPr lang="en-US" sz="1200">
              <a:solidFill>
                <a:schemeClr val="tx1">
                  <a:lumMod val="85000"/>
                  <a:lumOff val="15000"/>
                </a:schemeClr>
              </a:solidFill>
            </a:endParaRPr>
          </a:p>
          <a:p>
            <a:pPr marL="0" indent="0">
              <a:lnSpc>
                <a:spcPct val="115000"/>
              </a:lnSpc>
              <a:buNone/>
            </a:pPr>
            <a:r>
              <a:rPr lang="en-US" sz="12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competency with the most room</a:t>
            </a:r>
            <a:endParaRPr lang="en-US" sz="1200">
              <a:solidFill>
                <a:schemeClr val="tx1">
                  <a:lumMod val="85000"/>
                  <a:lumOff val="15000"/>
                </a:schemeClr>
              </a:solidFill>
            </a:endParaRPr>
          </a:p>
        </p:txBody>
      </p:sp>
      <p:sp>
        <p:nvSpPr>
          <p:cNvPr id="11" name="Text 9">
            <a:extLst>
              <a:ext uri="{FF2B5EF4-FFF2-40B4-BE49-F238E27FC236}">
                <a16:creationId xmlns:a16="http://schemas.microsoft.com/office/drawing/2014/main" id="{4C903CC3-240F-DA07-AB3E-0F0A12246AC8}"/>
              </a:ext>
            </a:extLst>
          </p:cNvPr>
          <p:cNvSpPr/>
          <p:nvPr/>
        </p:nvSpPr>
        <p:spPr>
          <a:xfrm>
            <a:off x="617993" y="3909612"/>
            <a:ext cx="4937760" cy="201168"/>
          </a:xfrm>
          <a:prstGeom prst="rect">
            <a:avLst/>
          </a:prstGeom>
          <a:noFill/>
          <a:ln/>
        </p:spPr>
        <p:txBody>
          <a:bodyPr wrap="square" lIns="0" tIns="0" rIns="0" bIns="0" rtlCol="0" anchor="ctr"/>
          <a:lstStyle/>
          <a:p>
            <a:pPr marL="0" indent="0">
              <a:buNone/>
            </a:pPr>
            <a:r>
              <a:rPr lang="en-US" sz="1050" b="1" kern="0" spc="16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OBJECTIVES</a:t>
            </a:r>
            <a:endParaRPr lang="en-US" sz="1050">
              <a:solidFill>
                <a:schemeClr val="accent4">
                  <a:lumMod val="50000"/>
                </a:schemeClr>
              </a:solidFill>
            </a:endParaRPr>
          </a:p>
        </p:txBody>
      </p:sp>
      <p:sp>
        <p:nvSpPr>
          <p:cNvPr id="12" name="Text 10">
            <a:extLst>
              <a:ext uri="{FF2B5EF4-FFF2-40B4-BE49-F238E27FC236}">
                <a16:creationId xmlns:a16="http://schemas.microsoft.com/office/drawing/2014/main" id="{64B7C049-39DE-2C1B-B62F-D7C87930483E}"/>
              </a:ext>
            </a:extLst>
          </p:cNvPr>
          <p:cNvSpPr/>
          <p:nvPr/>
        </p:nvSpPr>
        <p:spPr>
          <a:xfrm>
            <a:off x="617993" y="4202220"/>
            <a:ext cx="4937760" cy="1554480"/>
          </a:xfrm>
          <a:prstGeom prst="rect">
            <a:avLst/>
          </a:prstGeom>
          <a:noFill/>
          <a:ln/>
        </p:spPr>
        <p:txBody>
          <a:bodyPr wrap="square" lIns="0" tIns="0" rIns="0" bIns="0" rtlCol="0" anchor="t"/>
          <a:lstStyle/>
          <a:p>
            <a:pPr marL="203200" indent="-203200">
              <a:lnSpc>
                <a:spcPct val="120000"/>
              </a:lnSpc>
              <a:spcAft>
                <a:spcPts val="900"/>
              </a:spcAft>
              <a:buSzPct val="100000"/>
              <a:buChar char="■"/>
            </a:pPr>
            <a:r>
              <a:rPr lang="en-US" sz="1400">
                <a:solidFill>
                  <a:schemeClr val="tx1">
                    <a:lumMod val="85000"/>
                    <a:lumOff val="15000"/>
                  </a:schemeClr>
                </a:solidFill>
                <a:latin typeface="Calibri"/>
                <a:ea typeface="Calibri"/>
                <a:cs typeface="Calibri"/>
              </a:rPr>
              <a:t>Locate the gap precisely enough that </a:t>
            </a:r>
            <a:r>
              <a:rPr lang="en-US" sz="1400" err="1">
                <a:solidFill>
                  <a:schemeClr val="tx1">
                    <a:lumMod val="85000"/>
                    <a:lumOff val="15000"/>
                  </a:schemeClr>
                </a:solidFill>
                <a:latin typeface="Calibri"/>
                <a:ea typeface="Calibri"/>
                <a:cs typeface="Calibri"/>
              </a:rPr>
              <a:t>the</a:t>
            </a:r>
            <a:r>
              <a:rPr lang="en-US" sz="1400">
                <a:solidFill>
                  <a:schemeClr val="tx1">
                    <a:lumMod val="85000"/>
                    <a:lumOff val="15000"/>
                  </a:schemeClr>
                </a:solidFill>
                <a:latin typeface="Calibri"/>
                <a:ea typeface="Calibri"/>
                <a:cs typeface="Calibri"/>
              </a:rPr>
              <a:t> teaching faculty can act on it</a:t>
            </a:r>
          </a:p>
          <a:p>
            <a:pPr marL="203200" indent="-203200">
              <a:lnSpc>
                <a:spcPct val="120000"/>
              </a:lnSpc>
              <a:spcAft>
                <a:spcPts val="900"/>
              </a:spcAft>
              <a:buSzPct val="100000"/>
              <a:buChar char="■"/>
            </a:pPr>
            <a:r>
              <a:rPr lang="en-US" sz="14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Separate what a district can change from what a classroom must</a:t>
            </a:r>
            <a:endParaRPr lang="en-US" sz="1400">
              <a:solidFill>
                <a:schemeClr val="tx1">
                  <a:lumMod val="85000"/>
                  <a:lumOff val="15000"/>
                </a:schemeClr>
              </a:solidFill>
            </a:endParaRPr>
          </a:p>
          <a:p>
            <a:pPr marL="203200" indent="-203200">
              <a:lnSpc>
                <a:spcPct val="120000"/>
              </a:lnSpc>
              <a:spcAft>
                <a:spcPts val="900"/>
              </a:spcAft>
              <a:buSzPct val="100000"/>
              <a:buChar char="■"/>
            </a:pPr>
            <a:r>
              <a:rPr lang="en-US" sz="14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Show which gaps are curricular and which are about delivery</a:t>
            </a:r>
            <a:endParaRPr lang="en-US" sz="1400">
              <a:solidFill>
                <a:schemeClr val="tx1">
                  <a:lumMod val="85000"/>
                  <a:lumOff val="15000"/>
                </a:schemeClr>
              </a:solidFill>
            </a:endParaRPr>
          </a:p>
        </p:txBody>
      </p:sp>
      <p:sp>
        <p:nvSpPr>
          <p:cNvPr id="13" name="Text 11">
            <a:extLst>
              <a:ext uri="{FF2B5EF4-FFF2-40B4-BE49-F238E27FC236}">
                <a16:creationId xmlns:a16="http://schemas.microsoft.com/office/drawing/2014/main" id="{0385DC3F-A0E8-F14C-8D12-97226E072C2E}"/>
              </a:ext>
            </a:extLst>
          </p:cNvPr>
          <p:cNvSpPr/>
          <p:nvPr/>
        </p:nvSpPr>
        <p:spPr>
          <a:xfrm>
            <a:off x="6287273" y="3909612"/>
            <a:ext cx="4937760" cy="201168"/>
          </a:xfrm>
          <a:prstGeom prst="rect">
            <a:avLst/>
          </a:prstGeom>
          <a:noFill/>
          <a:ln/>
        </p:spPr>
        <p:txBody>
          <a:bodyPr wrap="square" lIns="0" tIns="0" rIns="0" bIns="0" rtlCol="0" anchor="ctr"/>
          <a:lstStyle/>
          <a:p>
            <a:pPr marL="0" indent="0">
              <a:buNone/>
            </a:pPr>
            <a:r>
              <a:rPr lang="en-US" sz="1050" b="1" kern="0" spc="160">
                <a:solidFill>
                  <a:schemeClr val="accent4">
                    <a:lumMod val="50000"/>
                  </a:schemeClr>
                </a:solidFill>
                <a:latin typeface="Calibri" panose="020F0502020204030204" pitchFamily="34" charset="0"/>
                <a:ea typeface="Calibri" panose="020F0502020204030204" pitchFamily="34" charset="0"/>
                <a:cs typeface="Calibri" panose="020F0502020204030204" pitchFamily="34" charset="0"/>
              </a:rPr>
              <a:t>KEY QUESTIONS</a:t>
            </a:r>
            <a:endParaRPr lang="en-US" sz="1050">
              <a:solidFill>
                <a:schemeClr val="accent4">
                  <a:lumMod val="50000"/>
                </a:schemeClr>
              </a:solidFill>
            </a:endParaRPr>
          </a:p>
        </p:txBody>
      </p:sp>
      <p:sp>
        <p:nvSpPr>
          <p:cNvPr id="14" name="Text 12">
            <a:extLst>
              <a:ext uri="{FF2B5EF4-FFF2-40B4-BE49-F238E27FC236}">
                <a16:creationId xmlns:a16="http://schemas.microsoft.com/office/drawing/2014/main" id="{981EF2ED-95C5-A4BC-5613-4A6684F6955B}"/>
              </a:ext>
            </a:extLst>
          </p:cNvPr>
          <p:cNvSpPr/>
          <p:nvPr/>
        </p:nvSpPr>
        <p:spPr>
          <a:xfrm>
            <a:off x="6287273" y="4202220"/>
            <a:ext cx="4937760" cy="1554480"/>
          </a:xfrm>
          <a:prstGeom prst="rect">
            <a:avLst/>
          </a:prstGeom>
          <a:noFill/>
          <a:ln/>
        </p:spPr>
        <p:txBody>
          <a:bodyPr wrap="square" lIns="0" tIns="0" rIns="0" bIns="0" rtlCol="0" anchor="t"/>
          <a:lstStyle/>
          <a:p>
            <a:pPr marL="203200" indent="-203200">
              <a:lnSpc>
                <a:spcPct val="120000"/>
              </a:lnSpc>
              <a:spcAft>
                <a:spcPts val="900"/>
              </a:spcAft>
              <a:buSzPct val="100000"/>
              <a:buChar char="■"/>
            </a:pPr>
            <a:r>
              <a:rPr lang="en-US" sz="14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Is the gap between places, or inside them?</a:t>
            </a:r>
            <a:endParaRPr lang="en-US" sz="1400">
              <a:solidFill>
                <a:schemeClr val="tx1">
                  <a:lumMod val="85000"/>
                  <a:lumOff val="15000"/>
                </a:schemeClr>
              </a:solidFill>
            </a:endParaRPr>
          </a:p>
          <a:p>
            <a:pPr marL="203200" indent="-203200">
              <a:lnSpc>
                <a:spcPct val="120000"/>
              </a:lnSpc>
              <a:spcAft>
                <a:spcPts val="900"/>
              </a:spcAft>
              <a:buSzPct val="100000"/>
              <a:buChar char="■"/>
            </a:pPr>
            <a:r>
              <a:rPr lang="en-US" sz="14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Which competencies, which questions, which children?</a:t>
            </a:r>
            <a:endParaRPr lang="en-US" sz="1400">
              <a:solidFill>
                <a:schemeClr val="tx1">
                  <a:lumMod val="85000"/>
                  <a:lumOff val="15000"/>
                </a:schemeClr>
              </a:solidFill>
            </a:endParaRPr>
          </a:p>
          <a:p>
            <a:pPr marL="203200" indent="-203200">
              <a:lnSpc>
                <a:spcPct val="120000"/>
              </a:lnSpc>
              <a:spcAft>
                <a:spcPts val="900"/>
              </a:spcAft>
              <a:buSzPct val="100000"/>
              <a:buChar char="■"/>
            </a:pPr>
            <a:r>
              <a:rPr lang="en-US" sz="1400">
                <a:solidFill>
                  <a:schemeClr val="tx1">
                    <a:lumMod val="85000"/>
                    <a:lumOff val="15000"/>
                  </a:schemeClr>
                </a:solidFill>
                <a:latin typeface="Calibri" panose="020F0502020204030204" pitchFamily="34" charset="0"/>
                <a:ea typeface="Calibri" panose="020F0502020204030204" pitchFamily="34" charset="0"/>
                <a:cs typeface="Calibri" panose="020F0502020204030204" pitchFamily="34" charset="0"/>
              </a:rPr>
              <a:t>How much of the district pattern does context explain?</a:t>
            </a:r>
            <a:endParaRPr lang="en-US" sz="1400">
              <a:solidFill>
                <a:schemeClr val="tx1">
                  <a:lumMod val="85000"/>
                  <a:lumOff val="15000"/>
                </a:schemeClr>
              </a:solidFill>
            </a:endParaRPr>
          </a:p>
        </p:txBody>
      </p:sp>
      <p:sp>
        <p:nvSpPr>
          <p:cNvPr id="15" name="Text 13">
            <a:extLst>
              <a:ext uri="{FF2B5EF4-FFF2-40B4-BE49-F238E27FC236}">
                <a16:creationId xmlns:a16="http://schemas.microsoft.com/office/drawing/2014/main" id="{F3601B94-4519-4F84-2470-ECEC72C573F8}"/>
              </a:ext>
            </a:extLst>
          </p:cNvPr>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E8B10A"/>
                </a:solidFill>
                <a:latin typeface="Calibri" panose="020F0502020204030204" pitchFamily="34" charset="0"/>
                <a:ea typeface="Calibri" panose="020F0502020204030204" pitchFamily="34" charset="0"/>
                <a:cs typeface="Calibri" panose="020F0502020204030204" pitchFamily="34" charset="0"/>
              </a:rPr>
              <a:t>02</a:t>
            </a:r>
            <a:endParaRPr lang="en-US" sz="1000"/>
          </a:p>
        </p:txBody>
      </p:sp>
    </p:spTree>
    <p:extLst>
      <p:ext uri="{BB962C8B-B14F-4D97-AF65-F5344CB8AC3E}">
        <p14:creationId xmlns:p14="http://schemas.microsoft.com/office/powerpoint/2010/main" val="3606030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DATASET UNDERSTANDING · COVERAGE</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latin typeface="Calibri"/>
                <a:ea typeface="Calibri"/>
                <a:cs typeface="Calibri"/>
              </a:rPr>
              <a:t>What every paper covers and what changes between them</a:t>
            </a:r>
            <a:endParaRPr lang="en-US" sz="3000">
              <a:latin typeface="Calibri"/>
              <a:ea typeface="Calibri"/>
              <a:cs typeface="Calibri"/>
            </a:endParaRPr>
          </a:p>
        </p:txBody>
      </p:sp>
      <p:pic>
        <p:nvPicPr>
          <p:cNvPr id="5" name="Image 0" descr="/home/claude/figs/fig/nb1_c15_0.png"/>
          <p:cNvPicPr>
            <a:picLocks noChangeAspect="1"/>
          </p:cNvPicPr>
          <p:nvPr/>
        </p:nvPicPr>
        <p:blipFill>
          <a:blip r:embed="rId3"/>
          <a:stretch>
            <a:fillRect/>
          </a:stretch>
        </p:blipFill>
        <p:spPr>
          <a:xfrm>
            <a:off x="640080" y="1737360"/>
            <a:ext cx="4937760" cy="3470941"/>
          </a:xfrm>
          <a:prstGeom prst="rect">
            <a:avLst/>
          </a:prstGeom>
        </p:spPr>
      </p:pic>
      <p:sp>
        <p:nvSpPr>
          <p:cNvPr id="6" name="Text 3"/>
          <p:cNvSpPr/>
          <p:nvPr/>
        </p:nvSpPr>
        <p:spPr>
          <a:xfrm>
            <a:off x="640080" y="5272309"/>
            <a:ext cx="4937760" cy="256032"/>
          </a:xfrm>
          <a:prstGeom prst="rect">
            <a:avLst/>
          </a:prstGeom>
          <a:noFill/>
          <a:ln/>
        </p:spPr>
        <p:txBody>
          <a:bodyPr wrap="square" lIns="0" tIns="0" rIns="0" bIns="0" rtlCol="0" anchor="ctr"/>
          <a:lstStyle/>
          <a:p>
            <a:pPr marL="0" indent="0">
              <a:buNone/>
            </a:pPr>
            <a:r>
              <a:rPr lang="en-US" sz="900" i="1">
                <a:solidFill>
                  <a:srgbClr val="9A9A9A"/>
                </a:solidFill>
                <a:latin typeface="Calibri"/>
                <a:ea typeface="Calibri"/>
                <a:cs typeface="Calibri"/>
              </a:rPr>
              <a:t>Questions per competency on each of the nine papers — blank means it is not tested that year </a:t>
            </a:r>
            <a:endParaRPr lang="en-US" sz="900">
              <a:latin typeface="Calibri"/>
              <a:ea typeface="Calibri"/>
              <a:cs typeface="Calibri"/>
            </a:endParaRPr>
          </a:p>
        </p:txBody>
      </p:sp>
      <p:pic>
        <p:nvPicPr>
          <p:cNvPr id="7" name="Image 1" descr="/home/claude/figs/fig/nb1_c21_0.png"/>
          <p:cNvPicPr>
            <a:picLocks noChangeAspect="1"/>
          </p:cNvPicPr>
          <p:nvPr/>
        </p:nvPicPr>
        <p:blipFill>
          <a:blip r:embed="rId4"/>
          <a:stretch>
            <a:fillRect/>
          </a:stretch>
        </p:blipFill>
        <p:spPr>
          <a:xfrm>
            <a:off x="5768451" y="1935828"/>
            <a:ext cx="6050942" cy="1684829"/>
          </a:xfrm>
          <a:prstGeom prst="rect">
            <a:avLst/>
          </a:prstGeom>
        </p:spPr>
      </p:pic>
      <p:sp>
        <p:nvSpPr>
          <p:cNvPr id="8" name="Text 4"/>
          <p:cNvSpPr/>
          <p:nvPr/>
        </p:nvSpPr>
        <p:spPr>
          <a:xfrm>
            <a:off x="5989320" y="3621086"/>
            <a:ext cx="5394960" cy="256032"/>
          </a:xfrm>
          <a:prstGeom prst="rect">
            <a:avLst/>
          </a:prstGeom>
          <a:noFill/>
          <a:ln/>
        </p:spPr>
        <p:txBody>
          <a:bodyPr wrap="square" lIns="0" tIns="0" rIns="0" bIns="0" rtlCol="0" anchor="ctr"/>
          <a:lstStyle/>
          <a:p>
            <a:pPr marL="0" indent="0">
              <a:buNone/>
            </a:pPr>
            <a:r>
              <a:rPr lang="en-US" sz="900" i="1">
                <a:solidFill>
                  <a:srgbClr val="9A9A9A"/>
                </a:solidFill>
                <a:latin typeface="Calibri"/>
                <a:ea typeface="Calibri"/>
                <a:cs typeface="Calibri"/>
              </a:rPr>
              <a:t>Gram panchayats reached each year, and the 2,360 present in every paper · </a:t>
            </a:r>
            <a:endParaRPr lang="en-US" sz="900"/>
          </a:p>
        </p:txBody>
      </p:sp>
      <p:sp>
        <p:nvSpPr>
          <p:cNvPr id="9" name="Text 5"/>
          <p:cNvSpPr/>
          <p:nvPr/>
        </p:nvSpPr>
        <p:spPr>
          <a:xfrm>
            <a:off x="5989320" y="4276436"/>
            <a:ext cx="539496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REACH HAS GROWN FAST</a:t>
            </a:r>
            <a:endParaRPr lang="en-US" sz="900"/>
          </a:p>
        </p:txBody>
      </p:sp>
      <p:sp>
        <p:nvSpPr>
          <p:cNvPr id="10" name="Text 6"/>
          <p:cNvSpPr/>
          <p:nvPr/>
        </p:nvSpPr>
        <p:spPr>
          <a:xfrm>
            <a:off x="5989320" y="4554556"/>
            <a:ext cx="5394960" cy="1106556"/>
          </a:xfrm>
          <a:prstGeom prst="rect">
            <a:avLst/>
          </a:prstGeom>
          <a:noFill/>
          <a:ln/>
        </p:spPr>
        <p:txBody>
          <a:bodyPr wrap="square" lIns="0" tIns="0" rIns="0" bIns="0" rtlCol="0" anchor="t"/>
          <a:lstStyle/>
          <a:p>
            <a:pPr marL="0" indent="0">
              <a:lnSpc>
                <a:spcPct val="126000"/>
              </a:lnSpc>
              <a:buNone/>
            </a:pPr>
            <a:r>
              <a:rPr lang="en-US" sz="1200">
                <a:solidFill>
                  <a:srgbClr val="111111"/>
                </a:solidFill>
                <a:latin typeface="Calibri" panose="020F0502020204030204" pitchFamily="34" charset="0"/>
                <a:ea typeface="Calibri" panose="020F0502020204030204" pitchFamily="34" charset="0"/>
                <a:cs typeface="Calibri" panose="020F0502020204030204" pitchFamily="34" charset="0"/>
              </a:rPr>
              <a:t>2,613 panchayats in 2022-23, about 4,870 by 2024-25. That is good news for coverage and it means a raw year-on-year comparison partly measures who newly joined, so every trend claim here is either restricted to the 2,360 constant panchayats or made at item level.</a:t>
            </a:r>
            <a:endParaRPr lang="en-US" sz="1200"/>
          </a:p>
        </p:txBody>
      </p:sp>
      <p:sp>
        <p:nvSpPr>
          <p:cNvPr id="11" name="Text 7"/>
          <p:cNvSpPr/>
          <p:nvPr/>
        </p:nvSpPr>
        <p:spPr>
          <a:xfrm>
            <a:off x="640080" y="5669280"/>
            <a:ext cx="10908792"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THE SHARED CORE</a:t>
            </a:r>
            <a:endParaRPr lang="en-US" sz="900"/>
          </a:p>
        </p:txBody>
      </p:sp>
      <p:sp>
        <p:nvSpPr>
          <p:cNvPr id="12" name="Text 8"/>
          <p:cNvSpPr/>
          <p:nvPr/>
        </p:nvSpPr>
        <p:spPr>
          <a:xfrm>
            <a:off x="640080" y="5925312"/>
            <a:ext cx="10911535" cy="640080"/>
          </a:xfrm>
          <a:prstGeom prst="rect">
            <a:avLst/>
          </a:prstGeom>
          <a:noFill/>
          <a:ln/>
        </p:spPr>
        <p:txBody>
          <a:bodyPr wrap="square" lIns="0" tIns="0" rIns="0" bIns="0" rtlCol="0" anchor="t"/>
          <a:lstStyle/>
          <a:p>
            <a:pPr marL="0" indent="0">
              <a:lnSpc>
                <a:spcPct val="120000"/>
              </a:lnSpc>
              <a:buNone/>
            </a:pPr>
            <a:r>
              <a:rPr lang="en-US" sz="1100">
                <a:solidFill>
                  <a:srgbClr val="6E6E6E"/>
                </a:solidFill>
                <a:latin typeface="Calibri" panose="020F0502020204030204" pitchFamily="34" charset="0"/>
                <a:ea typeface="Calibri" panose="020F0502020204030204" pitchFamily="34" charset="0"/>
                <a:cs typeface="Calibri" panose="020F0502020204030204" pitchFamily="34" charset="0"/>
              </a:rPr>
              <a:t>Seven of eleven competencies appear on every paper and form the core used throughout this deck. Fraction is not tested after 2023-24, data handling enters in 2023-24, and mensuration appears once. Measurement carries anywhere between two and five questions depending on the paper — so a competency can look stronger or weaker simply because it was asked more or fewer times.</a:t>
            </a:r>
            <a:endParaRPr lang="en-US" sz="1100"/>
          </a:p>
        </p:txBody>
      </p:sp>
      <p:sp>
        <p:nvSpPr>
          <p:cNvPr id="13" name="Text 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04</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ANALYTICAL APPROACH</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latin typeface="Calibri"/>
                <a:ea typeface="Calibri"/>
                <a:cs typeface="Calibri"/>
              </a:rPr>
              <a:t>Methodology of Our Analysis</a:t>
            </a:r>
            <a:endParaRPr lang="en-US" err="1"/>
          </a:p>
        </p:txBody>
      </p:sp>
      <p:sp>
        <p:nvSpPr>
          <p:cNvPr id="5" name="Text 3"/>
          <p:cNvSpPr/>
          <p:nvPr/>
        </p:nvSpPr>
        <p:spPr>
          <a:xfrm>
            <a:off x="640080" y="1737360"/>
            <a:ext cx="2560320" cy="292608"/>
          </a:xfrm>
          <a:prstGeom prst="rect">
            <a:avLst/>
          </a:prstGeom>
          <a:noFill/>
          <a:ln/>
        </p:spPr>
        <p:txBody>
          <a:bodyPr wrap="square" lIns="0" tIns="0" rIns="0" bIns="0" rtlCol="0" anchor="ctr"/>
          <a:lstStyle/>
          <a:p>
            <a:pPr marL="0" indent="0">
              <a:buNone/>
            </a:pPr>
            <a:r>
              <a:rPr lang="en-US" sz="1300" b="1">
                <a:solidFill>
                  <a:srgbClr val="E8B10A"/>
                </a:solidFill>
                <a:latin typeface="Calibri" panose="020F0502020204030204" pitchFamily="34" charset="0"/>
                <a:ea typeface="Calibri" panose="020F0502020204030204" pitchFamily="34" charset="0"/>
                <a:cs typeface="Calibri" panose="020F0502020204030204" pitchFamily="34" charset="0"/>
              </a:rPr>
              <a:t>01</a:t>
            </a:r>
            <a:endParaRPr lang="en-US" sz="1300"/>
          </a:p>
        </p:txBody>
      </p:sp>
      <p:sp>
        <p:nvSpPr>
          <p:cNvPr id="6" name="Text 4"/>
          <p:cNvSpPr/>
          <p:nvPr/>
        </p:nvSpPr>
        <p:spPr>
          <a:xfrm>
            <a:off x="640080" y="2048256"/>
            <a:ext cx="2560320" cy="292608"/>
          </a:xfrm>
          <a:prstGeom prst="rect">
            <a:avLst/>
          </a:prstGeom>
          <a:noFill/>
          <a:ln/>
        </p:spPr>
        <p:txBody>
          <a:bodyPr wrap="square" lIns="0" tIns="0" rIns="0" bIns="0" rtlCol="0" anchor="ctr"/>
          <a:lstStyle/>
          <a:p>
            <a:pPr marL="0" indent="0">
              <a:buNone/>
            </a:pPr>
            <a:r>
              <a:rPr lang="en-US" sz="1600" b="1">
                <a:solidFill>
                  <a:srgbClr val="111111"/>
                </a:solidFill>
                <a:latin typeface="Calibri" panose="020F0502020204030204" pitchFamily="34" charset="0"/>
                <a:ea typeface="Calibri" panose="020F0502020204030204" pitchFamily="34" charset="0"/>
                <a:cs typeface="Calibri" panose="020F0502020204030204" pitchFamily="34" charset="0"/>
              </a:rPr>
              <a:t>Audit</a:t>
            </a:r>
            <a:endParaRPr lang="en-US" sz="1600"/>
          </a:p>
        </p:txBody>
      </p:sp>
      <p:sp>
        <p:nvSpPr>
          <p:cNvPr id="7" name="Text 5"/>
          <p:cNvSpPr/>
          <p:nvPr/>
        </p:nvSpPr>
        <p:spPr>
          <a:xfrm>
            <a:off x="640080" y="2605554"/>
            <a:ext cx="2514600" cy="2938669"/>
          </a:xfrm>
          <a:prstGeom prst="rect">
            <a:avLst/>
          </a:prstGeom>
          <a:noFill/>
          <a:ln/>
        </p:spPr>
        <p:txBody>
          <a:bodyPr wrap="square" lIns="0" tIns="0" rIns="0" bIns="0" rtlCol="0" anchor="t"/>
          <a:lstStyle/>
          <a:p>
            <a:pPr>
              <a:lnSpc>
                <a:spcPct val="120000"/>
              </a:lnSpc>
            </a:pPr>
            <a:r>
              <a:rPr lang="en-US" sz="1100">
                <a:solidFill>
                  <a:schemeClr val="tx1">
                    <a:lumMod val="95000"/>
                    <a:lumOff val="5000"/>
                  </a:schemeClr>
                </a:solidFill>
                <a:ea typeface="+mn-lt"/>
                <a:cs typeface="+mn-lt"/>
              </a:rPr>
              <a:t>Coverage, naming, geography hierarchy, scope rules.</a:t>
            </a:r>
          </a:p>
          <a:p>
            <a:pPr>
              <a:lnSpc>
                <a:spcPct val="120000"/>
              </a:lnSpc>
            </a:pPr>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9 files, 3 sheets each — mapping and question names differ per file</a:t>
            </a:r>
            <a:endParaRPr lang="en-US">
              <a:solidFill>
                <a:schemeClr val="tx1">
                  <a:lumMod val="95000"/>
                  <a:lumOff val="5000"/>
                </a:schemeClr>
              </a:solidFill>
              <a:ea typeface="Calibri"/>
              <a:cs typeface="Calibri"/>
            </a:endParaRPr>
          </a:p>
          <a:p>
            <a:pPr marL="285750" indent="-285750">
              <a:buFont typeface="Arial"/>
              <a:buChar char="•"/>
            </a:pPr>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70 question names </a:t>
            </a:r>
            <a:r>
              <a:rPr lang="en-US" sz="1100" err="1">
                <a:solidFill>
                  <a:schemeClr val="tx1">
                    <a:lumMod val="95000"/>
                    <a:lumOff val="5000"/>
                  </a:schemeClr>
                </a:solidFill>
                <a:ea typeface="+mn-lt"/>
                <a:cs typeface="+mn-lt"/>
              </a:rPr>
              <a:t>normalised</a:t>
            </a:r>
            <a:r>
              <a:rPr lang="en-US" sz="1100">
                <a:solidFill>
                  <a:schemeClr val="tx1">
                    <a:lumMod val="95000"/>
                    <a:lumOff val="5000"/>
                  </a:schemeClr>
                </a:solidFill>
                <a:ea typeface="+mn-lt"/>
                <a:cs typeface="+mn-lt"/>
              </a:rPr>
              <a:t> to 65; a renamed item is a different item</a:t>
            </a:r>
            <a:endParaRPr lang="en-US">
              <a:solidFill>
                <a:schemeClr val="tx1">
                  <a:lumMod val="95000"/>
                  <a:lumOff val="5000"/>
                </a:schemeClr>
              </a:solidFill>
              <a:ea typeface="Calibri"/>
              <a:cs typeface="Calibri"/>
            </a:endParaRPr>
          </a:p>
          <a:p>
            <a:pPr marL="285750" indent="-285750">
              <a:buFont typeface="Arial"/>
              <a:buChar char="•"/>
            </a:pPr>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11 competencies → 7 present on every paper form the comparable core</a:t>
            </a:r>
            <a:endParaRPr lang="en-US">
              <a:solidFill>
                <a:schemeClr val="tx1">
                  <a:lumMod val="95000"/>
                  <a:lumOff val="5000"/>
                </a:schemeClr>
              </a:solidFill>
              <a:ea typeface="Calibri"/>
              <a:cs typeface="Calibri"/>
            </a:endParaRPr>
          </a:p>
          <a:p>
            <a:pPr marL="285750" indent="-285750">
              <a:buFont typeface="Arial"/>
              <a:buChar char="•"/>
            </a:pPr>
            <a:r>
              <a:rPr lang="en-US" sz="1100">
                <a:solidFill>
                  <a:schemeClr val="tx1">
                    <a:lumMod val="95000"/>
                    <a:lumOff val="5000"/>
                  </a:schemeClr>
                </a:solidFill>
                <a:ea typeface="+mn-lt"/>
                <a:cs typeface="+mn-lt"/>
              </a:rPr>
              <a:t>Geography validated State → District → Block → Cluster → GP</a:t>
            </a:r>
            <a:endParaRPr lang="en-US">
              <a:solidFill>
                <a:schemeClr val="tx1">
                  <a:lumMod val="95000"/>
                  <a:lumOff val="5000"/>
                </a:schemeClr>
              </a:solidFill>
              <a:ea typeface="Calibri"/>
              <a:cs typeface="Calibri"/>
            </a:endParaRPr>
          </a:p>
          <a:p>
            <a:pPr marL="285750" indent="-285750">
              <a:buFont typeface="Arial"/>
              <a:buChar char="•"/>
            </a:pPr>
            <a:endParaRPr lang="en-US" sz="1100">
              <a:solidFill>
                <a:schemeClr val="tx1">
                  <a:lumMod val="95000"/>
                  <a:lumOff val="5000"/>
                </a:schemeClr>
              </a:solidFill>
              <a:ea typeface="+mn-lt"/>
              <a:cs typeface="+mn-lt"/>
            </a:endParaRPr>
          </a:p>
          <a:p>
            <a:pPr>
              <a:lnSpc>
                <a:spcPct val="120000"/>
              </a:lnSpc>
            </a:pPr>
            <a:endParaRPr lang="en-US" sz="1100">
              <a:solidFill>
                <a:srgbClr val="6E6E6E"/>
              </a:solidFill>
              <a:ea typeface="+mn-lt"/>
              <a:cs typeface="+mn-lt"/>
            </a:endParaRPr>
          </a:p>
        </p:txBody>
      </p:sp>
      <p:sp>
        <p:nvSpPr>
          <p:cNvPr id="8" name="Text 6"/>
          <p:cNvSpPr/>
          <p:nvPr/>
        </p:nvSpPr>
        <p:spPr>
          <a:xfrm>
            <a:off x="3429000" y="1737360"/>
            <a:ext cx="2560320" cy="292608"/>
          </a:xfrm>
          <a:prstGeom prst="rect">
            <a:avLst/>
          </a:prstGeom>
          <a:noFill/>
          <a:ln/>
        </p:spPr>
        <p:txBody>
          <a:bodyPr wrap="square" lIns="0" tIns="0" rIns="0" bIns="0" rtlCol="0" anchor="ctr"/>
          <a:lstStyle/>
          <a:p>
            <a:pPr marL="0" indent="0">
              <a:buNone/>
            </a:pPr>
            <a:r>
              <a:rPr lang="en-US" sz="1300" b="1">
                <a:solidFill>
                  <a:srgbClr val="E8B10A"/>
                </a:solidFill>
                <a:latin typeface="Calibri" panose="020F0502020204030204" pitchFamily="34" charset="0"/>
                <a:ea typeface="Calibri" panose="020F0502020204030204" pitchFamily="34" charset="0"/>
                <a:cs typeface="Calibri" panose="020F0502020204030204" pitchFamily="34" charset="0"/>
              </a:rPr>
              <a:t>02</a:t>
            </a:r>
            <a:endParaRPr lang="en-US" sz="1300"/>
          </a:p>
        </p:txBody>
      </p:sp>
      <p:sp>
        <p:nvSpPr>
          <p:cNvPr id="9" name="Text 7"/>
          <p:cNvSpPr/>
          <p:nvPr/>
        </p:nvSpPr>
        <p:spPr>
          <a:xfrm>
            <a:off x="3429000" y="2048256"/>
            <a:ext cx="2560320" cy="292608"/>
          </a:xfrm>
          <a:prstGeom prst="rect">
            <a:avLst/>
          </a:prstGeom>
          <a:noFill/>
          <a:ln/>
        </p:spPr>
        <p:txBody>
          <a:bodyPr wrap="square" lIns="0" tIns="0" rIns="0" bIns="0" rtlCol="0" anchor="ctr"/>
          <a:lstStyle/>
          <a:p>
            <a:pPr marL="0" indent="0">
              <a:buNone/>
            </a:pPr>
            <a:r>
              <a:rPr lang="en-US" sz="1600" b="1">
                <a:solidFill>
                  <a:srgbClr val="111111"/>
                </a:solidFill>
                <a:ea typeface="Calibri"/>
                <a:cs typeface="Calibri"/>
              </a:rPr>
              <a:t>Decompose</a:t>
            </a:r>
          </a:p>
        </p:txBody>
      </p:sp>
      <p:sp>
        <p:nvSpPr>
          <p:cNvPr id="10" name="Text 8"/>
          <p:cNvSpPr/>
          <p:nvPr/>
        </p:nvSpPr>
        <p:spPr>
          <a:xfrm>
            <a:off x="3429000" y="2605554"/>
            <a:ext cx="2514600" cy="2938669"/>
          </a:xfrm>
          <a:prstGeom prst="rect">
            <a:avLst/>
          </a:prstGeom>
          <a:noFill/>
          <a:ln/>
        </p:spPr>
        <p:txBody>
          <a:bodyPr wrap="square" lIns="0" tIns="0" rIns="0" bIns="0" rtlCol="0" anchor="t"/>
          <a:lstStyle/>
          <a:p>
            <a:r>
              <a:rPr lang="en-US" sz="1100">
                <a:solidFill>
                  <a:schemeClr val="tx1">
                    <a:lumMod val="95000"/>
                    <a:lumOff val="5000"/>
                  </a:schemeClr>
                </a:solidFill>
                <a:latin typeface="Calibri"/>
                <a:ea typeface="Calibri"/>
                <a:cs typeface="Calibri"/>
              </a:rPr>
              <a:t>Where score variance sits across five admin levels.</a:t>
            </a:r>
            <a:endParaRPr lang="en-US" sz="110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Variance split across five admin levels, run separately on each paper</a:t>
            </a:r>
            <a:endParaRPr lang="en-US" sz="110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a:buChar char="•"/>
            </a:pPr>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Nine estimates, never pooled — grade and year mix can't leak in</a:t>
            </a:r>
            <a:endParaRPr lang="en-US">
              <a:solidFill>
                <a:schemeClr val="tx1">
                  <a:lumMod val="95000"/>
                  <a:lumOff val="5000"/>
                </a:schemeClr>
              </a:solidFill>
              <a:ea typeface="Calibri"/>
              <a:cs typeface="Calibri"/>
            </a:endParaRPr>
          </a:p>
          <a:p>
            <a:pPr marL="285750" indent="-285750">
              <a:buFont typeface="Arial"/>
              <a:buChar char="•"/>
            </a:pPr>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Learning floor read as both rate and headcount, since budgets are headcount</a:t>
            </a:r>
            <a:endParaRPr lang="en-US">
              <a:solidFill>
                <a:schemeClr val="tx1">
                  <a:lumMod val="95000"/>
                  <a:lumOff val="5000"/>
                </a:schemeClr>
              </a:solidFill>
              <a:ea typeface="Calibri"/>
              <a:cs typeface="Calibri"/>
            </a:endParaRPr>
          </a:p>
          <a:p>
            <a:pPr marL="285750" indent="-285750">
              <a:buFont typeface="Arial"/>
              <a:buChar char="•"/>
            </a:pPr>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Mean against between-district spread separates curriculum from delivery</a:t>
            </a:r>
            <a:endParaRPr lang="en-US">
              <a:solidFill>
                <a:schemeClr val="tx1">
                  <a:lumMod val="95000"/>
                  <a:lumOff val="5000"/>
                </a:schemeClr>
              </a:solidFill>
              <a:ea typeface="Calibri"/>
              <a:cs typeface="Calibri"/>
            </a:endParaRPr>
          </a:p>
          <a:p>
            <a:pPr marL="285750" indent="-285750">
              <a:buFont typeface="Arial"/>
              <a:buChar char="•"/>
            </a:pPr>
            <a:endParaRPr lang="en-US" sz="1100">
              <a:solidFill>
                <a:schemeClr val="tx1">
                  <a:lumMod val="95000"/>
                  <a:lumOff val="5000"/>
                </a:schemeClr>
              </a:solidFill>
              <a:ea typeface="+mn-lt"/>
              <a:cs typeface="+mn-lt"/>
            </a:endParaRPr>
          </a:p>
          <a:p>
            <a:pPr marL="285750" indent="-285750">
              <a:buFont typeface="Arial"/>
              <a:buChar char="•"/>
            </a:pPr>
            <a:r>
              <a:rPr lang="en-US" sz="1100">
                <a:solidFill>
                  <a:schemeClr val="tx1">
                    <a:lumMod val="95000"/>
                    <a:lumOff val="5000"/>
                  </a:schemeClr>
                </a:solidFill>
                <a:ea typeface="+mn-lt"/>
                <a:cs typeface="+mn-lt"/>
              </a:rPr>
              <a:t>Gender and district cuts taken at competency level, not total score</a:t>
            </a:r>
            <a:endParaRPr lang="en-US">
              <a:solidFill>
                <a:schemeClr val="tx1">
                  <a:lumMod val="95000"/>
                  <a:lumOff val="5000"/>
                </a:schemeClr>
              </a:solidFill>
              <a:ea typeface="Calibri"/>
              <a:cs typeface="Calibri"/>
            </a:endParaRPr>
          </a:p>
          <a:p>
            <a:pPr>
              <a:lnSpc>
                <a:spcPct val="120000"/>
              </a:lnSpc>
            </a:pPr>
            <a:br>
              <a:rPr lang="en-US" sz="1100">
                <a:latin typeface="Calibri" panose="020F0502020204030204" pitchFamily="34" charset="0"/>
                <a:ea typeface="Calibri" panose="020F0502020204030204" pitchFamily="34" charset="0"/>
                <a:cs typeface="Calibri" panose="020F0502020204030204" pitchFamily="34" charset="0"/>
              </a:rPr>
            </a:br>
            <a:br>
              <a:rPr lang="en-US" sz="1100">
                <a:latin typeface="Calibri" panose="020F0502020204030204" pitchFamily="34" charset="0"/>
                <a:ea typeface="Calibri" panose="020F0502020204030204" pitchFamily="34" charset="0"/>
                <a:cs typeface="Calibri" panose="020F0502020204030204" pitchFamily="34" charset="0"/>
              </a:rPr>
            </a:br>
            <a:endParaRPr lang="en-US" sz="1100">
              <a:solidFill>
                <a:srgbClr val="6E6E6E"/>
              </a:solidFill>
              <a:latin typeface="Calibri" panose="020F0502020204030204" pitchFamily="34" charset="0"/>
              <a:ea typeface="Calibri" panose="020F0502020204030204" pitchFamily="34" charset="0"/>
              <a:cs typeface="Calibri" panose="020F0502020204030204" pitchFamily="34" charset="0"/>
            </a:endParaRPr>
          </a:p>
          <a:p>
            <a:pPr>
              <a:lnSpc>
                <a:spcPct val="120000"/>
              </a:lnSpc>
            </a:pPr>
            <a:endParaRPr lang="en-US" sz="1100">
              <a:solidFill>
                <a:srgbClr val="6E6E6E"/>
              </a:solidFill>
              <a:ea typeface="Calibri"/>
              <a:cs typeface="Calibri"/>
            </a:endParaRPr>
          </a:p>
        </p:txBody>
      </p:sp>
      <p:sp>
        <p:nvSpPr>
          <p:cNvPr id="11" name="Text 9"/>
          <p:cNvSpPr/>
          <p:nvPr/>
        </p:nvSpPr>
        <p:spPr>
          <a:xfrm>
            <a:off x="6217920" y="1737360"/>
            <a:ext cx="2560320" cy="292608"/>
          </a:xfrm>
          <a:prstGeom prst="rect">
            <a:avLst/>
          </a:prstGeom>
          <a:noFill/>
          <a:ln/>
        </p:spPr>
        <p:txBody>
          <a:bodyPr wrap="square" lIns="0" tIns="0" rIns="0" bIns="0" rtlCol="0" anchor="ctr"/>
          <a:lstStyle/>
          <a:p>
            <a:pPr marL="0" indent="0">
              <a:buNone/>
            </a:pPr>
            <a:r>
              <a:rPr lang="en-US" sz="1300" b="1">
                <a:solidFill>
                  <a:srgbClr val="E8B10A"/>
                </a:solidFill>
                <a:latin typeface="Calibri" panose="020F0502020204030204" pitchFamily="34" charset="0"/>
                <a:ea typeface="Calibri" panose="020F0502020204030204" pitchFamily="34" charset="0"/>
                <a:cs typeface="Calibri" panose="020F0502020204030204" pitchFamily="34" charset="0"/>
              </a:rPr>
              <a:t>03</a:t>
            </a:r>
            <a:endParaRPr lang="en-US" sz="1300"/>
          </a:p>
        </p:txBody>
      </p:sp>
      <p:sp>
        <p:nvSpPr>
          <p:cNvPr id="12" name="Text 10"/>
          <p:cNvSpPr/>
          <p:nvPr/>
        </p:nvSpPr>
        <p:spPr>
          <a:xfrm>
            <a:off x="6217920" y="2048256"/>
            <a:ext cx="2560320" cy="292608"/>
          </a:xfrm>
          <a:prstGeom prst="rect">
            <a:avLst/>
          </a:prstGeom>
          <a:noFill/>
          <a:ln/>
        </p:spPr>
        <p:txBody>
          <a:bodyPr wrap="square" lIns="0" tIns="0" rIns="0" bIns="0" rtlCol="0" anchor="ctr"/>
          <a:lstStyle/>
          <a:p>
            <a:pPr marL="0" indent="0">
              <a:buNone/>
            </a:pPr>
            <a:r>
              <a:rPr lang="en-US" sz="1600" b="1">
                <a:solidFill>
                  <a:srgbClr val="111111"/>
                </a:solidFill>
                <a:latin typeface="Calibri" panose="020F0502020204030204" pitchFamily="34" charset="0"/>
                <a:ea typeface="Calibri" panose="020F0502020204030204" pitchFamily="34" charset="0"/>
                <a:cs typeface="Calibri" panose="020F0502020204030204" pitchFamily="34" charset="0"/>
              </a:rPr>
              <a:t>Isolate</a:t>
            </a:r>
            <a:endParaRPr lang="en-US" sz="1600"/>
          </a:p>
        </p:txBody>
      </p:sp>
      <p:sp>
        <p:nvSpPr>
          <p:cNvPr id="13" name="Text 11"/>
          <p:cNvSpPr/>
          <p:nvPr/>
        </p:nvSpPr>
        <p:spPr>
          <a:xfrm>
            <a:off x="6217920" y="2605554"/>
            <a:ext cx="2514600" cy="2938669"/>
          </a:xfrm>
          <a:prstGeom prst="rect">
            <a:avLst/>
          </a:prstGeom>
          <a:noFill/>
          <a:ln/>
        </p:spPr>
        <p:txBody>
          <a:bodyPr wrap="square" lIns="0" tIns="0" rIns="0" bIns="0" rtlCol="0" anchor="t"/>
          <a:lstStyle/>
          <a:p>
            <a:pPr>
              <a:lnSpc>
                <a:spcPct val="120000"/>
              </a:lnSpc>
            </a:pPr>
            <a:r>
              <a:rPr lang="en-US" sz="1100">
                <a:solidFill>
                  <a:schemeClr val="tx1">
                    <a:lumMod val="95000"/>
                    <a:lumOff val="5000"/>
                  </a:schemeClr>
                </a:solidFill>
              </a:rPr>
              <a:t>Same skill, one variable moved: presentation, regrouping</a:t>
            </a:r>
            <a:endParaRPr lang="en-US" sz="1100">
              <a:solidFill>
                <a:schemeClr val="tx1">
                  <a:lumMod val="95000"/>
                  <a:lumOff val="5000"/>
                </a:schemeClr>
              </a:solidFill>
              <a:ea typeface="Calibri"/>
              <a:cs typeface="Calibri"/>
            </a:endParaRPr>
          </a:p>
          <a:p>
            <a:pPr>
              <a:lnSpc>
                <a:spcPct val="120000"/>
              </a:lnSpc>
            </a:pPr>
            <a:endParaRPr lang="en-US" sz="1100">
              <a:solidFill>
                <a:srgbClr val="6E6E6E"/>
              </a:solidFill>
              <a:ea typeface="+mn-lt"/>
              <a:cs typeface="+mn-lt"/>
            </a:endParaRPr>
          </a:p>
          <a:p>
            <a:pPr marL="171450" indent="-171450">
              <a:buFont typeface="Arial"/>
              <a:buChar char="•"/>
            </a:pPr>
            <a:r>
              <a:rPr lang="en-US" sz="1100">
                <a:solidFill>
                  <a:schemeClr val="tx1">
                    <a:lumMod val="95000"/>
                    <a:lumOff val="5000"/>
                  </a:schemeClr>
                </a:solidFill>
                <a:ea typeface="+mn-lt"/>
                <a:cs typeface="+mn-lt"/>
              </a:rPr>
              <a:t>Question names parsed into skill, presentation format, regrouping</a:t>
            </a:r>
            <a:endParaRPr lang="en-US" sz="1100">
              <a:solidFill>
                <a:schemeClr val="tx1">
                  <a:lumMod val="95000"/>
                  <a:lumOff val="5000"/>
                </a:schemeClr>
              </a:solidFill>
              <a:ea typeface="Calibri"/>
              <a:cs typeface="Calibri"/>
            </a:endParaRPr>
          </a:p>
          <a:p>
            <a:pPr marL="171450" indent="-171450">
              <a:buFont typeface="Arial"/>
              <a:buChar char="•"/>
            </a:pPr>
            <a:endParaRPr lang="en-US" sz="1100">
              <a:solidFill>
                <a:schemeClr val="tx1">
                  <a:lumMod val="95000"/>
                  <a:lumOff val="5000"/>
                </a:schemeClr>
              </a:solidFill>
              <a:ea typeface="+mn-lt"/>
              <a:cs typeface="+mn-lt"/>
            </a:endParaRPr>
          </a:p>
          <a:p>
            <a:pPr marL="171450" indent="-171450">
              <a:buFont typeface="Arial"/>
              <a:buChar char="•"/>
            </a:pPr>
            <a:r>
              <a:rPr lang="en-US" sz="1100">
                <a:solidFill>
                  <a:schemeClr val="tx1">
                    <a:lumMod val="95000"/>
                    <a:lumOff val="5000"/>
                  </a:schemeClr>
                </a:solidFill>
                <a:ea typeface="+mn-lt"/>
                <a:cs typeface="+mn-lt"/>
              </a:rPr>
              <a:t>Presentation: same skill, same paper, one format changed</a:t>
            </a:r>
            <a:endParaRPr lang="en-US">
              <a:solidFill>
                <a:schemeClr val="tx1">
                  <a:lumMod val="95000"/>
                  <a:lumOff val="5000"/>
                </a:schemeClr>
              </a:solidFill>
              <a:ea typeface="Calibri" panose="020F0502020204030204"/>
              <a:cs typeface="Calibri" panose="020F0502020204030204"/>
            </a:endParaRPr>
          </a:p>
          <a:p>
            <a:pPr marL="171450" indent="-171450">
              <a:buFont typeface="Arial"/>
              <a:buChar char="•"/>
            </a:pPr>
            <a:endParaRPr lang="en-US" sz="1100">
              <a:solidFill>
                <a:schemeClr val="tx1">
                  <a:lumMod val="95000"/>
                  <a:lumOff val="5000"/>
                </a:schemeClr>
              </a:solidFill>
              <a:ea typeface="+mn-lt"/>
              <a:cs typeface="+mn-lt"/>
            </a:endParaRPr>
          </a:p>
          <a:p>
            <a:pPr marL="171450" indent="-171450">
              <a:buFont typeface="Arial"/>
              <a:buChar char="•"/>
            </a:pPr>
            <a:r>
              <a:rPr lang="en-US" sz="1100">
                <a:solidFill>
                  <a:schemeClr val="tx1">
                    <a:lumMod val="95000"/>
                    <a:lumOff val="5000"/>
                  </a:schemeClr>
                </a:solidFill>
                <a:ea typeface="+mn-lt"/>
                <a:cs typeface="+mn-lt"/>
              </a:rPr>
              <a:t>Regrouping: presentation held identical; 3 of 6 pairs dropped as confounded</a:t>
            </a:r>
            <a:endParaRPr lang="en-US">
              <a:solidFill>
                <a:schemeClr val="tx1">
                  <a:lumMod val="95000"/>
                  <a:lumOff val="5000"/>
                </a:schemeClr>
              </a:solidFill>
              <a:ea typeface="Calibri" panose="020F0502020204030204"/>
              <a:cs typeface="Calibri" panose="020F0502020204030204"/>
            </a:endParaRPr>
          </a:p>
          <a:p>
            <a:pPr marL="171450" indent="-171450">
              <a:buFont typeface="Arial"/>
              <a:buChar char="•"/>
            </a:pPr>
            <a:endParaRPr lang="en-US" sz="1100">
              <a:solidFill>
                <a:schemeClr val="tx1">
                  <a:lumMod val="95000"/>
                  <a:lumOff val="5000"/>
                </a:schemeClr>
              </a:solidFill>
              <a:ea typeface="+mn-lt"/>
              <a:cs typeface="+mn-lt"/>
            </a:endParaRPr>
          </a:p>
          <a:p>
            <a:pPr marL="171450" indent="-171450">
              <a:buFont typeface="Arial"/>
              <a:buChar char="•"/>
            </a:pPr>
            <a:r>
              <a:rPr lang="en-US" sz="1100">
                <a:solidFill>
                  <a:schemeClr val="tx1">
                    <a:lumMod val="95000"/>
                    <a:lumOff val="5000"/>
                  </a:schemeClr>
                </a:solidFill>
                <a:ea typeface="+mn-lt"/>
                <a:cs typeface="+mn-lt"/>
              </a:rPr>
              <a:t>Gender on complex problems: word problem against its plain twin</a:t>
            </a:r>
            <a:endParaRPr lang="en-US">
              <a:solidFill>
                <a:schemeClr val="tx1">
                  <a:lumMod val="95000"/>
                  <a:lumOff val="5000"/>
                </a:schemeClr>
              </a:solidFill>
              <a:ea typeface="Calibri" panose="020F0502020204030204"/>
              <a:cs typeface="Calibri" panose="020F0502020204030204"/>
            </a:endParaRPr>
          </a:p>
          <a:p>
            <a:pPr marL="171450" indent="-171450">
              <a:buFont typeface="Arial"/>
              <a:buChar char="•"/>
            </a:pPr>
            <a:endParaRPr lang="en-US" sz="1100">
              <a:solidFill>
                <a:schemeClr val="tx1">
                  <a:lumMod val="95000"/>
                  <a:lumOff val="5000"/>
                </a:schemeClr>
              </a:solidFill>
              <a:ea typeface="+mn-lt"/>
              <a:cs typeface="+mn-lt"/>
            </a:endParaRPr>
          </a:p>
          <a:p>
            <a:pPr marL="171450" indent="-171450">
              <a:buFont typeface="Arial"/>
              <a:buChar char="•"/>
            </a:pPr>
            <a:r>
              <a:rPr lang="en-US" sz="1100">
                <a:solidFill>
                  <a:schemeClr val="tx1">
                    <a:lumMod val="95000"/>
                    <a:lumOff val="5000"/>
                  </a:schemeClr>
                </a:solidFill>
                <a:ea typeface="+mn-lt"/>
                <a:cs typeface="+mn-lt"/>
              </a:rPr>
              <a:t>Trailing zeros measured separately - running out of time is a speed gap</a:t>
            </a:r>
            <a:endParaRPr lang="en-US">
              <a:solidFill>
                <a:schemeClr val="tx1">
                  <a:lumMod val="95000"/>
                  <a:lumOff val="5000"/>
                </a:schemeClr>
              </a:solidFill>
              <a:ea typeface="Calibri" panose="020F0502020204030204"/>
              <a:cs typeface="Calibri" panose="020F0502020204030204"/>
            </a:endParaRPr>
          </a:p>
          <a:p>
            <a:pPr marL="171450" indent="-171450">
              <a:buFont typeface="Arial"/>
              <a:buChar char="•"/>
            </a:pPr>
            <a:endParaRPr lang="en-US" sz="1100">
              <a:solidFill>
                <a:schemeClr val="tx1">
                  <a:lumMod val="95000"/>
                  <a:lumOff val="5000"/>
                </a:schemeClr>
              </a:solidFill>
              <a:ea typeface="+mn-lt"/>
              <a:cs typeface="+mn-lt"/>
            </a:endParaRPr>
          </a:p>
          <a:p>
            <a:pPr marL="171450" indent="-171450">
              <a:buFont typeface="Arial"/>
              <a:buChar char="•"/>
            </a:pPr>
            <a:r>
              <a:rPr lang="en-US" sz="1100">
                <a:solidFill>
                  <a:schemeClr val="tx1">
                    <a:lumMod val="95000"/>
                    <a:lumOff val="5000"/>
                  </a:schemeClr>
                </a:solidFill>
                <a:ea typeface="+mn-lt"/>
                <a:cs typeface="+mn-lt"/>
              </a:rPr>
              <a:t>Two questions, one skill: agreement caps the weight any single item carries</a:t>
            </a:r>
            <a:endParaRPr lang="en-US">
              <a:solidFill>
                <a:schemeClr val="tx1">
                  <a:lumMod val="95000"/>
                  <a:lumOff val="5000"/>
                </a:schemeClr>
              </a:solidFill>
              <a:ea typeface="Calibri" panose="020F0502020204030204"/>
              <a:cs typeface="Calibri" panose="020F0502020204030204"/>
            </a:endParaRPr>
          </a:p>
          <a:p>
            <a:pPr marL="171450" indent="-171450">
              <a:buFont typeface="Arial"/>
              <a:buChar char="•"/>
            </a:pPr>
            <a:endParaRPr lang="en-US" sz="1100">
              <a:solidFill>
                <a:schemeClr val="tx1">
                  <a:lumMod val="95000"/>
                  <a:lumOff val="5000"/>
                </a:schemeClr>
              </a:solidFill>
              <a:ea typeface="+mn-lt"/>
              <a:cs typeface="+mn-lt"/>
            </a:endParaRPr>
          </a:p>
          <a:p>
            <a:pPr marL="171450" indent="-171450">
              <a:buFont typeface="Arial"/>
              <a:buChar char="•"/>
            </a:pPr>
            <a:r>
              <a:rPr lang="en-US" sz="1100">
                <a:solidFill>
                  <a:schemeClr val="tx1">
                    <a:lumMod val="95000"/>
                    <a:lumOff val="5000"/>
                  </a:schemeClr>
                </a:solidFill>
                <a:ea typeface="+mn-lt"/>
                <a:cs typeface="+mn-lt"/>
              </a:rPr>
              <a:t>Skill gates test whether one competency conditions another</a:t>
            </a:r>
            <a:endParaRPr lang="en-US">
              <a:solidFill>
                <a:schemeClr val="tx1">
                  <a:lumMod val="95000"/>
                  <a:lumOff val="5000"/>
                </a:schemeClr>
              </a:solidFill>
              <a:ea typeface="Calibri" panose="020F0502020204030204"/>
              <a:cs typeface="Calibri" panose="020F0502020204030204"/>
            </a:endParaRPr>
          </a:p>
          <a:p>
            <a:pPr>
              <a:lnSpc>
                <a:spcPct val="120000"/>
              </a:lnSpc>
              <a:buFont typeface="Arial"/>
              <a:buChar char="•"/>
            </a:pPr>
            <a:endParaRPr lang="en-US" sz="1100">
              <a:solidFill>
                <a:srgbClr val="6E6E6E"/>
              </a:solidFill>
              <a:ea typeface="Calibri"/>
              <a:cs typeface="Calibri"/>
            </a:endParaRPr>
          </a:p>
        </p:txBody>
      </p:sp>
      <p:sp>
        <p:nvSpPr>
          <p:cNvPr id="14" name="Text 12"/>
          <p:cNvSpPr/>
          <p:nvPr/>
        </p:nvSpPr>
        <p:spPr>
          <a:xfrm>
            <a:off x="9006840" y="1737360"/>
            <a:ext cx="2560320" cy="292608"/>
          </a:xfrm>
          <a:prstGeom prst="rect">
            <a:avLst/>
          </a:prstGeom>
          <a:noFill/>
          <a:ln/>
        </p:spPr>
        <p:txBody>
          <a:bodyPr wrap="square" lIns="0" tIns="0" rIns="0" bIns="0" rtlCol="0" anchor="ctr"/>
          <a:lstStyle/>
          <a:p>
            <a:pPr marL="0" indent="0">
              <a:buNone/>
            </a:pPr>
            <a:r>
              <a:rPr lang="en-US" sz="1300" b="1">
                <a:solidFill>
                  <a:srgbClr val="E8B10A"/>
                </a:solidFill>
                <a:latin typeface="Calibri" panose="020F0502020204030204" pitchFamily="34" charset="0"/>
                <a:ea typeface="Calibri" panose="020F0502020204030204" pitchFamily="34" charset="0"/>
                <a:cs typeface="Calibri" panose="020F0502020204030204" pitchFamily="34" charset="0"/>
              </a:rPr>
              <a:t>04</a:t>
            </a:r>
            <a:endParaRPr lang="en-US" sz="1300"/>
          </a:p>
        </p:txBody>
      </p:sp>
      <p:sp>
        <p:nvSpPr>
          <p:cNvPr id="15" name="Text 13"/>
          <p:cNvSpPr/>
          <p:nvPr/>
        </p:nvSpPr>
        <p:spPr>
          <a:xfrm>
            <a:off x="9006840" y="2048256"/>
            <a:ext cx="2560320" cy="292608"/>
          </a:xfrm>
          <a:prstGeom prst="rect">
            <a:avLst/>
          </a:prstGeom>
          <a:noFill/>
          <a:ln/>
        </p:spPr>
        <p:txBody>
          <a:bodyPr wrap="square" lIns="0" tIns="0" rIns="0" bIns="0" rtlCol="0" anchor="ctr"/>
          <a:lstStyle/>
          <a:p>
            <a:pPr marL="0" indent="0">
              <a:buNone/>
            </a:pPr>
            <a:r>
              <a:rPr lang="en-US" sz="1600" b="1">
                <a:solidFill>
                  <a:srgbClr val="111111"/>
                </a:solidFill>
                <a:latin typeface="Calibri" panose="020F0502020204030204" pitchFamily="34" charset="0"/>
                <a:ea typeface="Calibri" panose="020F0502020204030204" pitchFamily="34" charset="0"/>
                <a:cs typeface="Calibri" panose="020F0502020204030204" pitchFamily="34" charset="0"/>
              </a:rPr>
              <a:t>Contextualise</a:t>
            </a:r>
            <a:endParaRPr lang="en-US" sz="1600"/>
          </a:p>
        </p:txBody>
      </p:sp>
      <p:sp>
        <p:nvSpPr>
          <p:cNvPr id="16" name="Text 14"/>
          <p:cNvSpPr/>
          <p:nvPr/>
        </p:nvSpPr>
        <p:spPr>
          <a:xfrm>
            <a:off x="9006840" y="2605554"/>
            <a:ext cx="2547730" cy="3711712"/>
          </a:xfrm>
          <a:prstGeom prst="rect">
            <a:avLst/>
          </a:prstGeom>
          <a:noFill/>
          <a:ln/>
        </p:spPr>
        <p:txBody>
          <a:bodyPr wrap="square" lIns="0" tIns="0" rIns="0" bIns="0" rtlCol="0" anchor="t"/>
          <a:lstStyle/>
          <a:p>
            <a:r>
              <a:rPr lang="en-US" sz="1100">
                <a:solidFill>
                  <a:schemeClr val="tx1">
                    <a:lumMod val="95000"/>
                    <a:lumOff val="5000"/>
                  </a:schemeClr>
                </a:solidFill>
              </a:rPr>
              <a:t>Two district indices from KAG 2024-25, min-max scaled, equal weights</a:t>
            </a:r>
            <a:endParaRPr lang="en-US" sz="1100">
              <a:solidFill>
                <a:schemeClr val="tx1">
                  <a:lumMod val="95000"/>
                  <a:lumOff val="5000"/>
                </a:schemeClr>
              </a:solidFill>
              <a:ea typeface="Calibri"/>
              <a:cs typeface="Calibri"/>
            </a:endParaRPr>
          </a:p>
          <a:p>
            <a:endParaRPr lang="en-US" sz="1100">
              <a:solidFill>
                <a:schemeClr val="tx1">
                  <a:lumMod val="95000"/>
                  <a:lumOff val="5000"/>
                </a:schemeClr>
              </a:solidFill>
              <a:ea typeface="Calibri"/>
              <a:cs typeface="Calibri"/>
            </a:endParaRPr>
          </a:p>
          <a:p>
            <a:pPr marL="171450" indent="-171450">
              <a:buFont typeface="Arial"/>
              <a:buChar char="•"/>
            </a:pPr>
            <a:r>
              <a:rPr lang="en-US" sz="1100">
                <a:solidFill>
                  <a:schemeClr val="tx1">
                    <a:lumMod val="95000"/>
                    <a:lumOff val="5000"/>
                  </a:schemeClr>
                </a:solidFill>
              </a:rPr>
              <a:t>Infrastructure: all-weather road habitations, mobile per 1,000 enrolled</a:t>
            </a:r>
            <a:endParaRPr lang="en-US" sz="1100">
              <a:solidFill>
                <a:schemeClr val="tx1">
                  <a:lumMod val="95000"/>
                  <a:lumOff val="5000"/>
                </a:schemeClr>
              </a:solidFill>
              <a:ea typeface="Calibri"/>
              <a:cs typeface="Calibri"/>
            </a:endParaRPr>
          </a:p>
          <a:p>
            <a:pPr marL="171450" indent="-171450">
              <a:buFont typeface="Arial"/>
              <a:buChar char="•"/>
            </a:pPr>
            <a:endParaRPr lang="en-US" sz="1100">
              <a:solidFill>
                <a:schemeClr val="tx1">
                  <a:lumMod val="95000"/>
                  <a:lumOff val="5000"/>
                </a:schemeClr>
              </a:solidFill>
            </a:endParaRPr>
          </a:p>
          <a:p>
            <a:pPr marL="171450" indent="-171450">
              <a:buFont typeface="Arial"/>
              <a:buChar char="•"/>
            </a:pPr>
            <a:r>
              <a:rPr lang="en-US" sz="1100">
                <a:solidFill>
                  <a:schemeClr val="tx1">
                    <a:lumMod val="95000"/>
                    <a:lumOff val="5000"/>
                  </a:schemeClr>
                </a:solidFill>
              </a:rPr>
              <a:t>Education districts kept separate, inheriting parent district values</a:t>
            </a:r>
            <a:endParaRPr lang="en-US" sz="1100">
              <a:solidFill>
                <a:schemeClr val="tx1">
                  <a:lumMod val="95000"/>
                  <a:lumOff val="5000"/>
                </a:schemeClr>
              </a:solidFill>
              <a:ea typeface="Calibri"/>
              <a:cs typeface="Calibri"/>
            </a:endParaRPr>
          </a:p>
          <a:p>
            <a:pPr marL="171450" indent="-171450">
              <a:buFont typeface="Arial"/>
              <a:buChar char="•"/>
            </a:pPr>
            <a:endParaRPr lang="en-US" sz="1100">
              <a:solidFill>
                <a:schemeClr val="tx1">
                  <a:lumMod val="95000"/>
                  <a:lumOff val="5000"/>
                </a:schemeClr>
              </a:solidFill>
            </a:endParaRPr>
          </a:p>
          <a:p>
            <a:pPr marL="171450" indent="-171450">
              <a:buFont typeface="Arial"/>
              <a:buChar char="•"/>
            </a:pPr>
            <a:r>
              <a:rPr lang="en-US" sz="1100">
                <a:solidFill>
                  <a:schemeClr val="tx1">
                    <a:lumMod val="95000"/>
                    <a:lumOff val="5000"/>
                  </a:schemeClr>
                </a:solidFill>
              </a:rPr>
              <a:t>Explicit join audit — no fuzzy name matching anywhere</a:t>
            </a:r>
            <a:endParaRPr lang="en-US" sz="1100">
              <a:solidFill>
                <a:schemeClr val="tx1">
                  <a:lumMod val="95000"/>
                  <a:lumOff val="5000"/>
                </a:schemeClr>
              </a:solidFill>
              <a:ea typeface="Calibri"/>
              <a:cs typeface="Calibri"/>
            </a:endParaRPr>
          </a:p>
          <a:p>
            <a:pPr marL="171450" indent="-171450">
              <a:buFont typeface="Arial"/>
              <a:buChar char="•"/>
            </a:pPr>
            <a:endParaRPr lang="en-US" sz="1100">
              <a:solidFill>
                <a:schemeClr val="tx1">
                  <a:lumMod val="95000"/>
                  <a:lumOff val="5000"/>
                </a:schemeClr>
              </a:solidFill>
            </a:endParaRPr>
          </a:p>
          <a:p>
            <a:pPr marL="171450" indent="-171450">
              <a:buFont typeface="Arial"/>
              <a:buChar char="•"/>
            </a:pPr>
            <a:r>
              <a:rPr lang="en-US" sz="1100">
                <a:solidFill>
                  <a:schemeClr val="tx1">
                    <a:lumMod val="95000"/>
                    <a:lumOff val="5000"/>
                  </a:schemeClr>
                </a:solidFill>
              </a:rPr>
              <a:t>Residual against context flags who under- and over-performs their own conditions</a:t>
            </a:r>
            <a:endParaRPr lang="en-US" sz="1100">
              <a:solidFill>
                <a:schemeClr val="tx1">
                  <a:lumMod val="95000"/>
                  <a:lumOff val="5000"/>
                </a:schemeClr>
              </a:solidFill>
              <a:ea typeface="Calibri"/>
              <a:cs typeface="Calibri"/>
            </a:endParaRPr>
          </a:p>
          <a:p>
            <a:pPr marL="171450" indent="-171450">
              <a:buFont typeface="Arial"/>
              <a:buChar char="•"/>
            </a:pPr>
            <a:endParaRPr lang="en-US" sz="1100">
              <a:solidFill>
                <a:schemeClr val="tx1">
                  <a:lumMod val="95000"/>
                  <a:lumOff val="5000"/>
                </a:schemeClr>
              </a:solidFill>
            </a:endParaRPr>
          </a:p>
          <a:p>
            <a:pPr marL="171450" indent="-171450">
              <a:buFont typeface="Arial"/>
              <a:buChar char="•"/>
            </a:pPr>
            <a:r>
              <a:rPr lang="en-US" sz="1100">
                <a:solidFill>
                  <a:schemeClr val="tx1">
                    <a:lumMod val="95000"/>
                    <a:lumOff val="5000"/>
                  </a:schemeClr>
                </a:solidFill>
              </a:rPr>
              <a:t>ASER 2024 rural as an external check, grade bands matched to ours</a:t>
            </a:r>
            <a:endParaRPr lang="en-US" sz="1100">
              <a:solidFill>
                <a:schemeClr val="tx1">
                  <a:lumMod val="95000"/>
                  <a:lumOff val="5000"/>
                </a:schemeClr>
              </a:solidFill>
              <a:ea typeface="Calibri"/>
              <a:cs typeface="Calibri"/>
            </a:endParaRPr>
          </a:p>
        </p:txBody>
      </p:sp>
      <p:sp>
        <p:nvSpPr>
          <p:cNvPr id="23" name="Text 1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05</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1 · WHERE THE GAP SITS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latin typeface="Calibri"/>
                <a:ea typeface="Calibri"/>
                <a:cs typeface="Calibri"/>
              </a:rPr>
              <a:t>Two thirds of the gap sits inside the gram panchayat itself</a:t>
            </a:r>
            <a:endParaRPr lang="en-US" sz="3000"/>
          </a:p>
        </p:txBody>
      </p:sp>
      <p:pic>
        <p:nvPicPr>
          <p:cNvPr id="5" name="Image 0" descr="/home/claude/figs/fig/nb1_c44_0.png"/>
          <p:cNvPicPr>
            <a:picLocks noChangeAspect="1"/>
          </p:cNvPicPr>
          <p:nvPr/>
        </p:nvPicPr>
        <p:blipFill>
          <a:blip r:embed="rId3"/>
          <a:stretch>
            <a:fillRect/>
          </a:stretch>
        </p:blipFill>
        <p:spPr>
          <a:xfrm>
            <a:off x="238419" y="1783080"/>
            <a:ext cx="6994485" cy="3936784"/>
          </a:xfrm>
          <a:prstGeom prst="rect">
            <a:avLst/>
          </a:prstGeom>
        </p:spPr>
      </p:pic>
      <p:sp>
        <p:nvSpPr>
          <p:cNvPr id="6" name="Text 3"/>
          <p:cNvSpPr/>
          <p:nvPr/>
        </p:nvSpPr>
        <p:spPr>
          <a:xfrm>
            <a:off x="690372" y="5994380"/>
            <a:ext cx="6492240" cy="256032"/>
          </a:xfrm>
          <a:prstGeom prst="rect">
            <a:avLst/>
          </a:prstGeom>
          <a:noFill/>
          <a:ln/>
        </p:spPr>
        <p:txBody>
          <a:bodyPr wrap="square" lIns="0" tIns="0" rIns="0" bIns="0" rtlCol="0" anchor="ctr"/>
          <a:lstStyle/>
          <a:p>
            <a:pPr marL="0" indent="0">
              <a:buNone/>
            </a:pPr>
            <a:r>
              <a:rPr lang="en-US" sz="1050" i="1">
                <a:solidFill>
                  <a:srgbClr val="9A9A9A"/>
                </a:solidFill>
                <a:latin typeface="Calibri" panose="020F0502020204030204" pitchFamily="34" charset="0"/>
                <a:ea typeface="Calibri" panose="020F0502020204030204" pitchFamily="34" charset="0"/>
                <a:cs typeface="Calibri" panose="020F0502020204030204" pitchFamily="34" charset="0"/>
              </a:rPr>
              <a:t>Nested variance decomposition, one row per paper</a:t>
            </a:r>
            <a:endParaRPr lang="en-US" sz="1050"/>
          </a:p>
        </p:txBody>
      </p:sp>
      <p:sp>
        <p:nvSpPr>
          <p:cNvPr id="7" name="Text 4"/>
          <p:cNvSpPr/>
          <p:nvPr/>
        </p:nvSpPr>
        <p:spPr>
          <a:xfrm>
            <a:off x="7543800" y="1783080"/>
            <a:ext cx="4023360" cy="698269"/>
          </a:xfrm>
          <a:prstGeom prst="rect">
            <a:avLst/>
          </a:prstGeom>
          <a:noFill/>
          <a:ln/>
        </p:spPr>
        <p:txBody>
          <a:bodyPr wrap="square" lIns="0" tIns="0" rIns="0" bIns="0" rtlCol="0" anchor="t"/>
          <a:lstStyle/>
          <a:p>
            <a:pPr marL="0" indent="0">
              <a:buNone/>
            </a:pPr>
            <a:r>
              <a:rPr lang="en-US" sz="4200" b="1">
                <a:solidFill>
                  <a:srgbClr val="E8B10A"/>
                </a:solidFill>
                <a:latin typeface="Calibri" panose="020F0502020204030204" pitchFamily="34" charset="0"/>
                <a:ea typeface="Calibri" panose="020F0502020204030204" pitchFamily="34" charset="0"/>
                <a:cs typeface="Calibri" panose="020F0502020204030204" pitchFamily="34" charset="0"/>
              </a:rPr>
              <a:t>67%</a:t>
            </a:r>
            <a:endParaRPr lang="en-US" sz="4200"/>
          </a:p>
        </p:txBody>
      </p:sp>
      <p:sp>
        <p:nvSpPr>
          <p:cNvPr id="8" name="Text 5"/>
          <p:cNvSpPr/>
          <p:nvPr/>
        </p:nvSpPr>
        <p:spPr>
          <a:xfrm>
            <a:off x="7543800" y="2453917"/>
            <a:ext cx="4023360" cy="548640"/>
          </a:xfrm>
          <a:prstGeom prst="rect">
            <a:avLst/>
          </a:prstGeom>
          <a:noFill/>
          <a:ln/>
        </p:spPr>
        <p:txBody>
          <a:bodyPr wrap="square" lIns="0" tIns="0" rIns="0" bIns="0" rtlCol="0" anchor="ctr"/>
          <a:lstStyle/>
          <a:p>
            <a:pPr marL="0" indent="0">
              <a:lnSpc>
                <a:spcPct val="115000"/>
              </a:lnSpc>
              <a:buNone/>
            </a:pPr>
            <a:r>
              <a:rPr lang="en-US" sz="1050">
                <a:solidFill>
                  <a:srgbClr val="111111"/>
                </a:solidFill>
                <a:latin typeface="Calibri" panose="020F0502020204030204" pitchFamily="34" charset="0"/>
                <a:ea typeface="Calibri" panose="020F0502020204030204" pitchFamily="34" charset="0"/>
                <a:cs typeface="Calibri" panose="020F0502020204030204" pitchFamily="34" charset="0"/>
              </a:rPr>
              <a:t>of score variance sits between children</a:t>
            </a:r>
            <a:endParaRPr lang="en-US" sz="1050"/>
          </a:p>
          <a:p>
            <a:pPr marL="0" indent="0">
              <a:lnSpc>
                <a:spcPct val="115000"/>
              </a:lnSpc>
              <a:buNone/>
            </a:pPr>
            <a:r>
              <a:rPr lang="en-US" sz="1050">
                <a:solidFill>
                  <a:srgbClr val="111111"/>
                </a:solidFill>
                <a:latin typeface="Calibri" panose="020F0502020204030204" pitchFamily="34" charset="0"/>
                <a:ea typeface="Calibri" panose="020F0502020204030204" pitchFamily="34" charset="0"/>
                <a:cs typeface="Calibri" panose="020F0502020204030204" pitchFamily="34" charset="0"/>
              </a:rPr>
              <a:t>who share a village and a school</a:t>
            </a:r>
            <a:endParaRPr lang="en-US" sz="1050"/>
          </a:p>
        </p:txBody>
      </p:sp>
      <p:sp>
        <p:nvSpPr>
          <p:cNvPr id="9" name="Text 6"/>
          <p:cNvSpPr/>
          <p:nvPr/>
        </p:nvSpPr>
        <p:spPr>
          <a:xfrm>
            <a:off x="7543800" y="3154680"/>
            <a:ext cx="4023360" cy="1371600"/>
          </a:xfrm>
          <a:prstGeom prst="rect">
            <a:avLst/>
          </a:prstGeom>
          <a:noFill/>
          <a:ln/>
        </p:spPr>
        <p:txBody>
          <a:bodyPr wrap="square" lIns="0" tIns="0" rIns="0" bIns="0" rtlCol="0" anchor="t"/>
          <a:lstStyle/>
          <a:p>
            <a:pPr marL="0" indent="0">
              <a:lnSpc>
                <a:spcPct val="126000"/>
              </a:lnSpc>
              <a:buNone/>
            </a:pPr>
            <a:r>
              <a:rPr lang="en-US" sz="1250">
                <a:solidFill>
                  <a:srgbClr val="111111"/>
                </a:solidFill>
                <a:latin typeface="Calibri" panose="020F0502020204030204" pitchFamily="34" charset="0"/>
                <a:ea typeface="Calibri" panose="020F0502020204030204" pitchFamily="34" charset="0"/>
                <a:cs typeface="Calibri" panose="020F0502020204030204" pitchFamily="34" charset="0"/>
              </a:rPr>
              <a:t>Division, district, block, cluster and GP together account for about a third of the difference between children. The remaining two thirds is inside the classroom, where a district-level map cannot see it.</a:t>
            </a:r>
            <a:endParaRPr lang="en-US" sz="1250"/>
          </a:p>
        </p:txBody>
      </p:sp>
      <p:sp>
        <p:nvSpPr>
          <p:cNvPr id="10" name="Text 7"/>
          <p:cNvSpPr/>
          <p:nvPr/>
        </p:nvSpPr>
        <p:spPr>
          <a:xfrm>
            <a:off x="7543800" y="4754880"/>
            <a:ext cx="402336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WHAT THIS OPENS UP</a:t>
            </a:r>
            <a:endParaRPr lang="en-US" sz="900"/>
          </a:p>
        </p:txBody>
      </p:sp>
      <p:sp>
        <p:nvSpPr>
          <p:cNvPr id="11" name="Text 8"/>
          <p:cNvSpPr/>
          <p:nvPr/>
        </p:nvSpPr>
        <p:spPr>
          <a:xfrm>
            <a:off x="7543800" y="5010912"/>
            <a:ext cx="4023360" cy="1371600"/>
          </a:xfrm>
          <a:prstGeom prst="rect">
            <a:avLst/>
          </a:prstGeom>
          <a:noFill/>
          <a:ln/>
        </p:spPr>
        <p:txBody>
          <a:bodyPr wrap="square" lIns="0" tIns="0" rIns="0" bIns="0" rtlCol="0" anchor="t"/>
          <a:lstStyle/>
          <a:p>
            <a:pPr marL="0" indent="0">
              <a:lnSpc>
                <a:spcPct val="120000"/>
              </a:lnSpc>
              <a:buNone/>
            </a:pPr>
            <a:r>
              <a:rPr lang="en-US" sz="1150">
                <a:solidFill>
                  <a:srgbClr val="6E6E6E"/>
                </a:solidFill>
                <a:latin typeface="Calibri" panose="020F0502020204030204" pitchFamily="34" charset="0"/>
                <a:ea typeface="Calibri" panose="020F0502020204030204" pitchFamily="34" charset="0"/>
                <a:cs typeface="Calibri" panose="020F0502020204030204" pitchFamily="34" charset="0"/>
              </a:rPr>
              <a:t>Choosing districts well is worth roughly a third of the available gain. The larger share is reachable only by something that differentiates between children in the same room — which is what the rest of this deck tries to name.</a:t>
            </a:r>
            <a:endParaRPr lang="en-US" sz="1150"/>
          </a:p>
        </p:txBody>
      </p:sp>
      <p:sp>
        <p:nvSpPr>
          <p:cNvPr id="12" name="Text 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06</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2 · COMPETENCY ANALYSIS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pPr marL="0" indent="0">
              <a:buNone/>
            </a:pPr>
            <a:r>
              <a:rPr lang="en-US" sz="3000" b="1">
                <a:solidFill>
                  <a:srgbClr val="111111"/>
                </a:solidFill>
                <a:latin typeface="Calibri" panose="020F0502020204030204" pitchFamily="34" charset="0"/>
                <a:ea typeface="Calibri" panose="020F0502020204030204" pitchFamily="34" charset="0"/>
                <a:cs typeface="Calibri" panose="020F0502020204030204" pitchFamily="34" charset="0"/>
              </a:rPr>
              <a:t>Two kinds of gap: curriculum, and delivery</a:t>
            </a:r>
            <a:endParaRPr lang="en-US" sz="3000"/>
          </a:p>
        </p:txBody>
      </p:sp>
      <p:pic>
        <p:nvPicPr>
          <p:cNvPr id="5" name="Image 0" descr="/home/claude/figs/fig/nb1_c48_0.png"/>
          <p:cNvPicPr>
            <a:picLocks noChangeAspect="1"/>
          </p:cNvPicPr>
          <p:nvPr/>
        </p:nvPicPr>
        <p:blipFill>
          <a:blip r:embed="rId3"/>
          <a:stretch>
            <a:fillRect/>
          </a:stretch>
        </p:blipFill>
        <p:spPr>
          <a:xfrm>
            <a:off x="496514" y="1617428"/>
            <a:ext cx="5407771" cy="2973900"/>
          </a:xfrm>
          <a:prstGeom prst="rect">
            <a:avLst/>
          </a:prstGeom>
        </p:spPr>
      </p:pic>
      <p:sp>
        <p:nvSpPr>
          <p:cNvPr id="6" name="Text 3"/>
          <p:cNvSpPr/>
          <p:nvPr/>
        </p:nvSpPr>
        <p:spPr>
          <a:xfrm>
            <a:off x="640080" y="4600120"/>
            <a:ext cx="5120640" cy="256032"/>
          </a:xfrm>
          <a:prstGeom prst="rect">
            <a:avLst/>
          </a:prstGeom>
          <a:noFill/>
          <a:ln/>
        </p:spPr>
        <p:txBody>
          <a:bodyPr wrap="square" lIns="0" tIns="0" rIns="0" bIns="0" rtlCol="0" anchor="ctr"/>
          <a:lstStyle/>
          <a:p>
            <a:pPr marL="0" indent="0">
              <a:buNone/>
            </a:pPr>
            <a:r>
              <a:rPr lang="en-US" sz="1050" i="1">
                <a:solidFill>
                  <a:srgbClr val="9A9A9A"/>
                </a:solidFill>
                <a:latin typeface="Calibri" panose="020F0502020204030204" pitchFamily="34" charset="0"/>
                <a:ea typeface="Calibri" panose="020F0502020204030204" pitchFamily="34" charset="0"/>
                <a:cs typeface="Calibri" panose="020F0502020204030204" pitchFamily="34" charset="0"/>
              </a:rPr>
              <a:t>Mastery on the seven competencies </a:t>
            </a:r>
            <a:r>
              <a:rPr lang="en-US" sz="1100" i="1">
                <a:solidFill>
                  <a:srgbClr val="9A9A9A"/>
                </a:solidFill>
                <a:latin typeface="Calibri" panose="020F0502020204030204" pitchFamily="34" charset="0"/>
                <a:ea typeface="Calibri" panose="020F0502020204030204" pitchFamily="34" charset="0"/>
                <a:cs typeface="Calibri" panose="020F0502020204030204" pitchFamily="34" charset="0"/>
              </a:rPr>
              <a:t>common</a:t>
            </a:r>
            <a:r>
              <a:rPr lang="en-US" sz="1050" i="1">
                <a:solidFill>
                  <a:srgbClr val="9A9A9A"/>
                </a:solidFill>
                <a:latin typeface="Calibri" panose="020F0502020204030204" pitchFamily="34" charset="0"/>
                <a:ea typeface="Calibri" panose="020F0502020204030204" pitchFamily="34" charset="0"/>
                <a:cs typeface="Calibri" panose="020F0502020204030204" pitchFamily="34" charset="0"/>
              </a:rPr>
              <a:t> to all nine papers</a:t>
            </a:r>
            <a:endParaRPr lang="en-US" sz="1050"/>
          </a:p>
        </p:txBody>
      </p:sp>
      <p:pic>
        <p:nvPicPr>
          <p:cNvPr id="7" name="Image 1" descr="/home/claude/figs/fig/quadrant_competency.png"/>
          <p:cNvPicPr>
            <a:picLocks noChangeAspect="1"/>
          </p:cNvPicPr>
          <p:nvPr/>
        </p:nvPicPr>
        <p:blipFill>
          <a:blip r:embed="rId4"/>
          <a:stretch>
            <a:fillRect/>
          </a:stretch>
        </p:blipFill>
        <p:spPr>
          <a:xfrm>
            <a:off x="6284668" y="1573255"/>
            <a:ext cx="4942619" cy="3148197"/>
          </a:xfrm>
          <a:prstGeom prst="rect">
            <a:avLst/>
          </a:prstGeom>
        </p:spPr>
      </p:pic>
      <p:sp>
        <p:nvSpPr>
          <p:cNvPr id="8" name="Text 4"/>
          <p:cNvSpPr/>
          <p:nvPr/>
        </p:nvSpPr>
        <p:spPr>
          <a:xfrm>
            <a:off x="6428232" y="4741287"/>
            <a:ext cx="4754880" cy="256032"/>
          </a:xfrm>
          <a:prstGeom prst="rect">
            <a:avLst/>
          </a:prstGeom>
          <a:noFill/>
          <a:ln/>
        </p:spPr>
        <p:txBody>
          <a:bodyPr wrap="square" lIns="0" tIns="0" rIns="0" bIns="0" rtlCol="0" anchor="ctr"/>
          <a:lstStyle/>
          <a:p>
            <a:pPr marL="0" indent="0">
              <a:buNone/>
            </a:pPr>
            <a:r>
              <a:rPr lang="en-US" sz="1050" i="1">
                <a:solidFill>
                  <a:srgbClr val="9A9A9A"/>
                </a:solidFill>
                <a:latin typeface="Calibri"/>
                <a:ea typeface="Calibri"/>
                <a:cs typeface="Calibri"/>
              </a:rPr>
              <a:t>Mastery against how much it varies between districts </a:t>
            </a:r>
            <a:endParaRPr lang="en-US" sz="1050"/>
          </a:p>
        </p:txBody>
      </p:sp>
      <p:sp>
        <p:nvSpPr>
          <p:cNvPr id="9" name="Text 5"/>
          <p:cNvSpPr/>
          <p:nvPr/>
        </p:nvSpPr>
        <p:spPr>
          <a:xfrm>
            <a:off x="640080" y="5074920"/>
            <a:ext cx="51206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WEAK AND UNIFORM → CURRICULUM</a:t>
            </a:r>
            <a:endParaRPr lang="en-US" sz="900"/>
          </a:p>
        </p:txBody>
      </p:sp>
      <p:sp>
        <p:nvSpPr>
          <p:cNvPr id="10" name="Text 6"/>
          <p:cNvSpPr/>
          <p:nvPr/>
        </p:nvSpPr>
        <p:spPr>
          <a:xfrm>
            <a:off x="640080" y="5330952"/>
            <a:ext cx="5120640" cy="1051560"/>
          </a:xfrm>
          <a:prstGeom prst="rect">
            <a:avLst/>
          </a:prstGeom>
          <a:noFill/>
          <a:ln/>
        </p:spPr>
        <p:txBody>
          <a:bodyPr wrap="square" lIns="0" tIns="0" rIns="0" bIns="0" rtlCol="0" anchor="t"/>
          <a:lstStyle/>
          <a:p>
            <a:pPr>
              <a:lnSpc>
                <a:spcPct val="126000"/>
              </a:lnSpc>
            </a:pPr>
            <a:r>
              <a:rPr lang="en-US" sz="1200">
                <a:solidFill>
                  <a:srgbClr val="111111"/>
                </a:solidFill>
                <a:latin typeface="Calibri"/>
                <a:ea typeface="Calibri"/>
                <a:cs typeface="Calibri"/>
              </a:rPr>
              <a:t>Multiplication (49%) and subtraction (49%) sit low almost everywhere. When a gap is the same size in every district, the lever is what is taught and how it is sequenced, not who delivers it.</a:t>
            </a:r>
            <a:endParaRPr lang="en-US" sz="1200">
              <a:latin typeface="Calibri"/>
              <a:ea typeface="Calibri"/>
              <a:cs typeface="Calibri"/>
            </a:endParaRPr>
          </a:p>
        </p:txBody>
      </p:sp>
      <p:sp>
        <p:nvSpPr>
          <p:cNvPr id="11" name="Text 7"/>
          <p:cNvSpPr/>
          <p:nvPr/>
        </p:nvSpPr>
        <p:spPr>
          <a:xfrm>
            <a:off x="6428232" y="5074920"/>
            <a:ext cx="51206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WEAK AND UNEVEN → DELIVERY</a:t>
            </a:r>
            <a:endParaRPr lang="en-US" sz="900"/>
          </a:p>
        </p:txBody>
      </p:sp>
      <p:sp>
        <p:nvSpPr>
          <p:cNvPr id="12" name="Text 8"/>
          <p:cNvSpPr/>
          <p:nvPr/>
        </p:nvSpPr>
        <p:spPr>
          <a:xfrm>
            <a:off x="6428232" y="5330952"/>
            <a:ext cx="5120640" cy="1051560"/>
          </a:xfrm>
          <a:prstGeom prst="rect">
            <a:avLst/>
          </a:prstGeom>
          <a:noFill/>
          <a:ln/>
        </p:spPr>
        <p:txBody>
          <a:bodyPr wrap="square" lIns="0" tIns="0" rIns="0" bIns="0" rtlCol="0" anchor="t"/>
          <a:lstStyle/>
          <a:p>
            <a:pPr marL="0" indent="0">
              <a:lnSpc>
                <a:spcPct val="126000"/>
              </a:lnSpc>
              <a:buNone/>
            </a:pPr>
            <a:r>
              <a:rPr lang="en-US" sz="1200">
                <a:solidFill>
                  <a:srgbClr val="111111"/>
                </a:solidFill>
                <a:latin typeface="Calibri" panose="020F0502020204030204" pitchFamily="34" charset="0"/>
                <a:ea typeface="Calibri" panose="020F0502020204030204" pitchFamily="34" charset="0"/>
                <a:cs typeface="Calibri" panose="020F0502020204030204" pitchFamily="34" charset="0"/>
              </a:rPr>
              <a:t>Division sits at 43% but the spread between districts is wide, and some districts are already well above it. That variation is itself the evidence that the gap is closable with resources already in the system.</a:t>
            </a:r>
            <a:endParaRPr lang="en-US" sz="1200"/>
          </a:p>
        </p:txBody>
      </p:sp>
      <p:sp>
        <p:nvSpPr>
          <p:cNvPr id="13" name="Text 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07</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3 · COMPETENCY ACROSS GRADES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latin typeface="Calibri"/>
                <a:ea typeface="Calibri"/>
                <a:cs typeface="Calibri"/>
              </a:rPr>
              <a:t>Grade Wise Core Competency Variation</a:t>
            </a:r>
            <a:endParaRPr lang="en-US">
              <a:ea typeface="Calibri"/>
              <a:cs typeface="Calibri"/>
            </a:endParaRPr>
          </a:p>
        </p:txBody>
      </p:sp>
      <p:pic>
        <p:nvPicPr>
          <p:cNvPr id="5" name="Image 0" descr="/home/claude/figs/fig/nb1_c52_0.png"/>
          <p:cNvPicPr>
            <a:picLocks noChangeAspect="1"/>
          </p:cNvPicPr>
          <p:nvPr/>
        </p:nvPicPr>
        <p:blipFill>
          <a:blip r:embed="rId3"/>
          <a:stretch>
            <a:fillRect/>
          </a:stretch>
        </p:blipFill>
        <p:spPr>
          <a:xfrm>
            <a:off x="640080" y="1783080"/>
            <a:ext cx="6766560" cy="2395582"/>
          </a:xfrm>
          <a:prstGeom prst="rect">
            <a:avLst/>
          </a:prstGeom>
        </p:spPr>
      </p:pic>
      <p:sp>
        <p:nvSpPr>
          <p:cNvPr id="6" name="Text 3"/>
          <p:cNvSpPr/>
          <p:nvPr/>
        </p:nvSpPr>
        <p:spPr>
          <a:xfrm>
            <a:off x="640080" y="4242670"/>
            <a:ext cx="6766560" cy="256032"/>
          </a:xfrm>
          <a:prstGeom prst="rect">
            <a:avLst/>
          </a:prstGeom>
          <a:noFill/>
          <a:ln/>
        </p:spPr>
        <p:txBody>
          <a:bodyPr wrap="square" lIns="0" tIns="0" rIns="0" bIns="0" rtlCol="0" anchor="ctr"/>
          <a:lstStyle/>
          <a:p>
            <a:pPr marL="0" indent="0">
              <a:buNone/>
            </a:pPr>
            <a:r>
              <a:rPr lang="en-US" sz="1050" i="1">
                <a:solidFill>
                  <a:srgbClr val="9A9A9A"/>
                </a:solidFill>
                <a:latin typeface="Calibri"/>
                <a:ea typeface="Calibri"/>
                <a:cs typeface="Calibri"/>
              </a:rPr>
              <a:t>Shared core mastery by grade </a:t>
            </a:r>
            <a:endParaRPr lang="en-US" sz="1050"/>
          </a:p>
        </p:txBody>
      </p:sp>
      <p:sp>
        <p:nvSpPr>
          <p:cNvPr id="7" name="Text 4"/>
          <p:cNvSpPr/>
          <p:nvPr/>
        </p:nvSpPr>
        <p:spPr>
          <a:xfrm>
            <a:off x="7726680" y="1783080"/>
            <a:ext cx="3566160" cy="201168"/>
          </a:xfrm>
          <a:prstGeom prst="rect">
            <a:avLst/>
          </a:prstGeom>
          <a:noFill/>
          <a:ln/>
        </p:spPr>
        <p:txBody>
          <a:bodyPr wrap="square" lIns="0" tIns="0" rIns="0" bIns="0" rtlCol="0" anchor="ctr"/>
          <a:lstStyle/>
          <a:p>
            <a:pPr marL="0" indent="0">
              <a:buNone/>
            </a:pPr>
            <a:r>
              <a:rPr lang="en-US" sz="10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WHAT TWO MORE YEARS ADD MOST TO</a:t>
            </a:r>
            <a:endParaRPr lang="en-US" sz="1000"/>
          </a:p>
        </p:txBody>
      </p:sp>
      <p:sp>
        <p:nvSpPr>
          <p:cNvPr id="8" name="Text 5"/>
          <p:cNvSpPr/>
          <p:nvPr/>
        </p:nvSpPr>
        <p:spPr>
          <a:xfrm>
            <a:off x="7726680" y="2039112"/>
            <a:ext cx="3566160" cy="1280160"/>
          </a:xfrm>
          <a:prstGeom prst="rect">
            <a:avLst/>
          </a:prstGeom>
          <a:noFill/>
          <a:ln/>
        </p:spPr>
        <p:txBody>
          <a:bodyPr wrap="square" lIns="0" tIns="0" rIns="0" bIns="0" rtlCol="0" anchor="t"/>
          <a:lstStyle/>
          <a:p>
            <a:pPr marL="0" indent="0">
              <a:lnSpc>
                <a:spcPct val="126000"/>
              </a:lnSpc>
              <a:buNone/>
            </a:pPr>
            <a:r>
              <a:rPr lang="en-US" sz="1400">
                <a:solidFill>
                  <a:srgbClr val="111111"/>
                </a:solidFill>
                <a:latin typeface="Calibri" panose="020F0502020204030204" pitchFamily="34" charset="0"/>
                <a:ea typeface="Calibri" panose="020F0502020204030204" pitchFamily="34" charset="0"/>
                <a:cs typeface="Calibri" panose="020F0502020204030204" pitchFamily="34" charset="0"/>
              </a:rPr>
              <a:t>Shapes gains about 11 points between grade 4 and grade 6, and addition about 8. Where the curriculum returns to a skill, the gap does narrow on its own.</a:t>
            </a:r>
            <a:endParaRPr lang="en-US" sz="1400"/>
          </a:p>
        </p:txBody>
      </p:sp>
      <p:sp>
        <p:nvSpPr>
          <p:cNvPr id="9" name="Text 6"/>
          <p:cNvSpPr/>
          <p:nvPr/>
        </p:nvSpPr>
        <p:spPr>
          <a:xfrm>
            <a:off x="7726680" y="3520440"/>
            <a:ext cx="3566160" cy="201168"/>
          </a:xfrm>
          <a:prstGeom prst="rect">
            <a:avLst/>
          </a:prstGeom>
          <a:noFill/>
          <a:ln/>
        </p:spPr>
        <p:txBody>
          <a:bodyPr wrap="square" lIns="0" tIns="0" rIns="0" bIns="0" rtlCol="0" anchor="ctr"/>
          <a:lstStyle/>
          <a:p>
            <a:pPr marL="0" indent="0">
              <a:buNone/>
            </a:pPr>
            <a:r>
              <a:rPr lang="en-US" sz="10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WHAT SITS STILL</a:t>
            </a:r>
            <a:endParaRPr lang="en-US" sz="1000"/>
          </a:p>
        </p:txBody>
      </p:sp>
      <p:sp>
        <p:nvSpPr>
          <p:cNvPr id="10" name="Text 7"/>
          <p:cNvSpPr/>
          <p:nvPr/>
        </p:nvSpPr>
        <p:spPr>
          <a:xfrm>
            <a:off x="7726680" y="3776472"/>
            <a:ext cx="3566160" cy="1828800"/>
          </a:xfrm>
          <a:prstGeom prst="rect">
            <a:avLst/>
          </a:prstGeom>
          <a:noFill/>
          <a:ln/>
        </p:spPr>
        <p:txBody>
          <a:bodyPr wrap="square" lIns="0" tIns="0" rIns="0" bIns="0" rtlCol="0" anchor="t"/>
          <a:lstStyle/>
          <a:p>
            <a:pPr marL="0" indent="0">
              <a:lnSpc>
                <a:spcPct val="126000"/>
              </a:lnSpc>
              <a:buNone/>
            </a:pPr>
            <a:r>
              <a:rPr lang="en-US" sz="1400">
                <a:solidFill>
                  <a:srgbClr val="111111"/>
                </a:solidFill>
                <a:latin typeface="Calibri" panose="020F0502020204030204" pitchFamily="34" charset="0"/>
                <a:ea typeface="Calibri" panose="020F0502020204030204" pitchFamily="34" charset="0"/>
                <a:cs typeface="Calibri" panose="020F0502020204030204" pitchFamily="34" charset="0"/>
              </a:rPr>
              <a:t>Measurement, multiplication and number sense end grade 6 within a point or two of where grade 4 started, and division holds near 43% throughout. These are the places where a targeted intervention has the most to add, because time alone is not adding it.</a:t>
            </a:r>
            <a:endParaRPr lang="en-US" sz="1400"/>
          </a:p>
        </p:txBody>
      </p:sp>
      <p:sp>
        <p:nvSpPr>
          <p:cNvPr id="11" name="Text 8"/>
          <p:cNvSpPr/>
          <p:nvPr/>
        </p:nvSpPr>
        <p:spPr>
          <a:xfrm>
            <a:off x="640080" y="4709160"/>
            <a:ext cx="6766560" cy="201168"/>
          </a:xfrm>
          <a:prstGeom prst="rect">
            <a:avLst/>
          </a:prstGeom>
          <a:noFill/>
          <a:ln/>
        </p:spPr>
        <p:txBody>
          <a:bodyPr wrap="square" lIns="0" tIns="0" rIns="0" bIns="0" rtlCol="0" anchor="ctr"/>
          <a:lstStyle/>
          <a:p>
            <a:pPr marL="0" indent="0">
              <a:buNone/>
            </a:pPr>
            <a:r>
              <a:rPr lang="en-US" sz="10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HOW TO READ THIS</a:t>
            </a:r>
            <a:endParaRPr lang="en-US" sz="1000"/>
          </a:p>
        </p:txBody>
      </p:sp>
      <p:sp>
        <p:nvSpPr>
          <p:cNvPr id="12" name="Text 9"/>
          <p:cNvSpPr/>
          <p:nvPr/>
        </p:nvSpPr>
        <p:spPr>
          <a:xfrm>
            <a:off x="640080" y="4965192"/>
            <a:ext cx="6766560" cy="731520"/>
          </a:xfrm>
          <a:prstGeom prst="rect">
            <a:avLst/>
          </a:prstGeom>
          <a:noFill/>
          <a:ln/>
        </p:spPr>
        <p:txBody>
          <a:bodyPr wrap="square" lIns="0" tIns="0" rIns="0" bIns="0" rtlCol="0" anchor="t"/>
          <a:lstStyle/>
          <a:p>
            <a:pPr marL="0" indent="0">
              <a:lnSpc>
                <a:spcPct val="120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Different children sat each paper, so this compares cohorts rather than following one child through two years of schooling. It is a picture of where the system currently stands at each grade, not a trajectory.</a:t>
            </a:r>
            <a:endParaRPr lang="en-US" sz="1200"/>
          </a:p>
        </p:txBody>
      </p:sp>
      <p:sp>
        <p:nvSpPr>
          <p:cNvPr id="13" name="Text 10"/>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08</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4 · QUESTION PAPER ANALYSIS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pPr marL="0" indent="0">
              <a:buNone/>
            </a:pPr>
            <a:r>
              <a:rPr lang="en-US" sz="3000" b="1">
                <a:solidFill>
                  <a:srgbClr val="111111"/>
                </a:solidFill>
                <a:latin typeface="Calibri" panose="020F0502020204030204" pitchFamily="34" charset="0"/>
                <a:ea typeface="Calibri" panose="020F0502020204030204" pitchFamily="34" charset="0"/>
                <a:cs typeface="Calibri" panose="020F0502020204030204" pitchFamily="34" charset="0"/>
              </a:rPr>
              <a:t>Part of the gap is where the question sits</a:t>
            </a:r>
            <a:endParaRPr lang="en-US" sz="3000"/>
          </a:p>
        </p:txBody>
      </p:sp>
      <p:pic>
        <p:nvPicPr>
          <p:cNvPr id="5" name="Image 0" descr="/home/claude/figs/fig/nb1_c65_0.png"/>
          <p:cNvPicPr>
            <a:picLocks noChangeAspect="1"/>
          </p:cNvPicPr>
          <p:nvPr/>
        </p:nvPicPr>
        <p:blipFill>
          <a:blip r:embed="rId3"/>
          <a:stretch>
            <a:fillRect/>
          </a:stretch>
        </p:blipFill>
        <p:spPr>
          <a:xfrm>
            <a:off x="640080" y="1737360"/>
            <a:ext cx="10908792" cy="2866962"/>
          </a:xfrm>
          <a:prstGeom prst="rect">
            <a:avLst/>
          </a:prstGeom>
        </p:spPr>
      </p:pic>
      <p:sp>
        <p:nvSpPr>
          <p:cNvPr id="6" name="Text 3"/>
          <p:cNvSpPr/>
          <p:nvPr/>
        </p:nvSpPr>
        <p:spPr>
          <a:xfrm>
            <a:off x="640080" y="4668330"/>
            <a:ext cx="10908792" cy="256032"/>
          </a:xfrm>
          <a:prstGeom prst="rect">
            <a:avLst/>
          </a:prstGeom>
          <a:noFill/>
          <a:ln/>
        </p:spPr>
        <p:txBody>
          <a:bodyPr wrap="square" lIns="0" tIns="0" rIns="0" bIns="0" rtlCol="0" anchor="ctr"/>
          <a:lstStyle/>
          <a:p>
            <a:pPr marL="0" indent="0">
              <a:buNone/>
            </a:pPr>
            <a:r>
              <a:rPr lang="en-US" sz="900" i="1">
                <a:solidFill>
                  <a:srgbClr val="9A9A9A"/>
                </a:solidFill>
                <a:latin typeface="Calibri"/>
                <a:ea typeface="Calibri"/>
                <a:cs typeface="Calibri"/>
              </a:rPr>
              <a:t>How each paper is built: the balance of abstract, pictorial and word-problem items changes from year to year · </a:t>
            </a:r>
            <a:endParaRPr lang="en-US" sz="900"/>
          </a:p>
        </p:txBody>
      </p:sp>
      <p:sp>
        <p:nvSpPr>
          <p:cNvPr id="7" name="Text 4"/>
          <p:cNvSpPr/>
          <p:nvPr/>
        </p:nvSpPr>
        <p:spPr>
          <a:xfrm>
            <a:off x="640080" y="5029200"/>
            <a:ext cx="51206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THE PAPER IS NOT A CONSTANT</a:t>
            </a:r>
            <a:endParaRPr lang="en-US" sz="900"/>
          </a:p>
        </p:txBody>
      </p:sp>
      <p:sp>
        <p:nvSpPr>
          <p:cNvPr id="8" name="Text 5"/>
          <p:cNvSpPr/>
          <p:nvPr/>
        </p:nvSpPr>
        <p:spPr>
          <a:xfrm>
            <a:off x="640080" y="5285232"/>
            <a:ext cx="5120640" cy="1188720"/>
          </a:xfrm>
          <a:prstGeom prst="rect">
            <a:avLst/>
          </a:prstGeom>
          <a:noFill/>
          <a:ln/>
        </p:spPr>
        <p:txBody>
          <a:bodyPr wrap="square" lIns="0" tIns="0" rIns="0" bIns="0" rtlCol="0" anchor="t"/>
          <a:lstStyle/>
          <a:p>
            <a:pPr>
              <a:lnSpc>
                <a:spcPct val="126000"/>
              </a:lnSpc>
            </a:pPr>
            <a:r>
              <a:rPr lang="en-US" sz="1200">
                <a:solidFill>
                  <a:srgbClr val="111111"/>
                </a:solidFill>
                <a:latin typeface="Calibri"/>
                <a:ea typeface="Calibri"/>
                <a:cs typeface="Calibri"/>
              </a:rPr>
              <a:t>65 distinct question types appear across the nine papers, and the presentation mix shifts between them — the 2024-25 papers carry far more pictorial items than 2022-23 did. A paper heavier on word problems is harder whatever children know, so raw scores between years are not fully comparable.</a:t>
            </a:r>
            <a:endParaRPr lang="en-US" sz="1200">
              <a:latin typeface="Calibri"/>
              <a:ea typeface="Calibri"/>
              <a:cs typeface="Calibri"/>
            </a:endParaRPr>
          </a:p>
        </p:txBody>
      </p:sp>
      <p:sp>
        <p:nvSpPr>
          <p:cNvPr id="9" name="Text 6"/>
          <p:cNvSpPr/>
          <p:nvPr/>
        </p:nvSpPr>
        <p:spPr>
          <a:xfrm>
            <a:off x="6428232" y="5029200"/>
            <a:ext cx="51206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WHICH IS WHY WE READ ITEMS, NOT SCORES</a:t>
            </a:r>
            <a:endParaRPr lang="en-US" sz="900"/>
          </a:p>
        </p:txBody>
      </p:sp>
      <p:sp>
        <p:nvSpPr>
          <p:cNvPr id="10" name="Text 7"/>
          <p:cNvSpPr/>
          <p:nvPr/>
        </p:nvSpPr>
        <p:spPr>
          <a:xfrm>
            <a:off x="6428232" y="5285232"/>
            <a:ext cx="5120640" cy="1188720"/>
          </a:xfrm>
          <a:prstGeom prst="rect">
            <a:avLst/>
          </a:prstGeom>
          <a:noFill/>
          <a:ln/>
        </p:spPr>
        <p:txBody>
          <a:bodyPr wrap="square" lIns="0" tIns="0" rIns="0" bIns="0" rtlCol="0" anchor="t"/>
          <a:lstStyle/>
          <a:p>
            <a:pPr>
              <a:lnSpc>
                <a:spcPct val="126000"/>
              </a:lnSpc>
            </a:pPr>
            <a:r>
              <a:rPr lang="en-US" sz="1200">
                <a:solidFill>
                  <a:srgbClr val="111111"/>
                </a:solidFill>
                <a:latin typeface="Calibri"/>
                <a:ea typeface="Calibri"/>
                <a:cs typeface="Calibri"/>
              </a:rPr>
              <a:t>Several question combinations appear in more than one year. Those are immune to </a:t>
            </a:r>
            <a:r>
              <a:rPr lang="en-US" sz="1200" err="1">
                <a:solidFill>
                  <a:srgbClr val="111111"/>
                </a:solidFill>
                <a:latin typeface="Calibri"/>
                <a:ea typeface="Calibri"/>
                <a:cs typeface="Calibri"/>
              </a:rPr>
              <a:t>relabelling</a:t>
            </a:r>
            <a:r>
              <a:rPr lang="en-US" sz="1200">
                <a:solidFill>
                  <a:srgbClr val="111111"/>
                </a:solidFill>
                <a:latin typeface="Calibri"/>
                <a:ea typeface="Calibri"/>
                <a:cs typeface="Calibri"/>
              </a:rPr>
              <a:t> and to a changing mix, and they are the comparisons every trend claim in this deck rests on.</a:t>
            </a:r>
            <a:endParaRPr lang="en-US" sz="1200">
              <a:latin typeface="Calibri"/>
              <a:ea typeface="Calibri"/>
              <a:cs typeface="Calibri"/>
            </a:endParaRPr>
          </a:p>
        </p:txBody>
      </p:sp>
      <p:sp>
        <p:nvSpPr>
          <p:cNvPr id="11" name="Text 8"/>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09</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5 · READING TRENDS SAFELY</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latin typeface="Calibri"/>
                <a:ea typeface="Calibri"/>
                <a:cs typeface="Calibri"/>
              </a:rPr>
              <a:t>Mean Score Trends</a:t>
            </a:r>
            <a:endParaRPr lang="en-US"/>
          </a:p>
        </p:txBody>
      </p:sp>
      <p:pic>
        <p:nvPicPr>
          <p:cNvPr id="5" name="Image 0" descr="/home/claude/figs/fig/nb1_c36_0.png"/>
          <p:cNvPicPr>
            <a:picLocks noChangeAspect="1"/>
          </p:cNvPicPr>
          <p:nvPr/>
        </p:nvPicPr>
        <p:blipFill>
          <a:blip r:embed="rId3"/>
          <a:stretch>
            <a:fillRect/>
          </a:stretch>
        </p:blipFill>
        <p:spPr>
          <a:xfrm>
            <a:off x="1252728" y="1737360"/>
            <a:ext cx="9692640" cy="2642847"/>
          </a:xfrm>
          <a:prstGeom prst="rect">
            <a:avLst/>
          </a:prstGeom>
        </p:spPr>
      </p:pic>
      <p:sp>
        <p:nvSpPr>
          <p:cNvPr id="6" name="Text 3"/>
          <p:cNvSpPr/>
          <p:nvPr/>
        </p:nvSpPr>
        <p:spPr>
          <a:xfrm>
            <a:off x="1252728" y="4444215"/>
            <a:ext cx="9692640" cy="256032"/>
          </a:xfrm>
          <a:prstGeom prst="rect">
            <a:avLst/>
          </a:prstGeom>
          <a:noFill/>
          <a:ln/>
        </p:spPr>
        <p:txBody>
          <a:bodyPr wrap="square" lIns="0" tIns="0" rIns="0" bIns="0" rtlCol="0" anchor="ctr"/>
          <a:lstStyle/>
          <a:p>
            <a:pPr marL="0" indent="0">
              <a:buNone/>
            </a:pPr>
            <a:r>
              <a:rPr lang="en-US" sz="900" i="1">
                <a:solidFill>
                  <a:srgbClr val="9A9A9A"/>
                </a:solidFill>
                <a:latin typeface="Calibri" panose="020F0502020204030204" pitchFamily="34" charset="0"/>
                <a:ea typeface="Calibri" panose="020F0502020204030204" pitchFamily="34" charset="0"/>
                <a:cs typeface="Calibri" panose="020F0502020204030204" pitchFamily="34" charset="0"/>
              </a:rPr>
              <a:t>Mean score by year for all panchayats, and for only the 2,360 present every year · notebook 01, section 5.2</a:t>
            </a:r>
            <a:endParaRPr lang="en-US" sz="900"/>
          </a:p>
        </p:txBody>
      </p:sp>
      <p:sp>
        <p:nvSpPr>
          <p:cNvPr id="7" name="Text 4"/>
          <p:cNvSpPr/>
          <p:nvPr/>
        </p:nvSpPr>
        <p:spPr>
          <a:xfrm>
            <a:off x="1291645" y="5095682"/>
            <a:ext cx="7009074"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THE COMPOSITION CHECK</a:t>
            </a:r>
            <a:endParaRPr lang="en-US" sz="900"/>
          </a:p>
        </p:txBody>
      </p:sp>
      <p:sp>
        <p:nvSpPr>
          <p:cNvPr id="8" name="Text 5"/>
          <p:cNvSpPr/>
          <p:nvPr/>
        </p:nvSpPr>
        <p:spPr>
          <a:xfrm>
            <a:off x="1291645" y="5351714"/>
            <a:ext cx="7009074" cy="1280160"/>
          </a:xfrm>
          <a:prstGeom prst="rect">
            <a:avLst/>
          </a:prstGeom>
          <a:noFill/>
          <a:ln/>
        </p:spPr>
        <p:txBody>
          <a:bodyPr wrap="square" lIns="0" tIns="0" rIns="0" bIns="0" rtlCol="0" anchor="t"/>
          <a:lstStyle/>
          <a:p>
            <a:pPr marL="0" indent="0">
              <a:lnSpc>
                <a:spcPct val="126000"/>
              </a:lnSpc>
              <a:buNone/>
            </a:pPr>
            <a:r>
              <a:rPr lang="en-US" sz="1200">
                <a:solidFill>
                  <a:srgbClr val="111111"/>
                </a:solidFill>
                <a:latin typeface="Calibri" panose="020F0502020204030204" pitchFamily="34" charset="0"/>
                <a:ea typeface="Calibri" panose="020F0502020204030204" pitchFamily="34" charset="0"/>
                <a:cs typeface="Calibri" panose="020F0502020204030204" pitchFamily="34" charset="0"/>
              </a:rPr>
              <a:t>Both panels move together. Restricting to the panchayats present in all three years leaves the shape of the trend unchanged, so what looks like movement is not simply the effect of newly assessed places joining the average.</a:t>
            </a:r>
            <a:endParaRPr lang="en-US" sz="1200"/>
          </a:p>
        </p:txBody>
      </p:sp>
      <p:sp>
        <p:nvSpPr>
          <p:cNvPr id="11" name="Text 8"/>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10</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6 · LANGUAGE AND REGROUPING</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pPr marL="0" indent="0">
              <a:buNone/>
            </a:pPr>
            <a:r>
              <a:rPr lang="en-US" sz="3000" b="1">
                <a:solidFill>
                  <a:srgbClr val="111111"/>
                </a:solidFill>
                <a:latin typeface="Calibri" panose="020F0502020204030204" pitchFamily="34" charset="0"/>
                <a:ea typeface="Calibri" panose="020F0502020204030204" pitchFamily="34" charset="0"/>
                <a:cs typeface="Calibri" panose="020F0502020204030204" pitchFamily="34" charset="0"/>
              </a:rPr>
              <a:t>Two narrow, teachable gaps inside one score</a:t>
            </a:r>
            <a:endParaRPr lang="en-US" sz="3000"/>
          </a:p>
        </p:txBody>
      </p:sp>
      <p:pic>
        <p:nvPicPr>
          <p:cNvPr id="5" name="Image 0" descr="/home/claude/figs/fig/nb1_c68_0.png"/>
          <p:cNvPicPr>
            <a:picLocks noChangeAspect="1"/>
          </p:cNvPicPr>
          <p:nvPr/>
        </p:nvPicPr>
        <p:blipFill>
          <a:blip r:embed="rId3"/>
          <a:stretch>
            <a:fillRect/>
          </a:stretch>
        </p:blipFill>
        <p:spPr>
          <a:xfrm>
            <a:off x="640080" y="1783080"/>
            <a:ext cx="5120640" cy="2287327"/>
          </a:xfrm>
          <a:prstGeom prst="rect">
            <a:avLst/>
          </a:prstGeom>
        </p:spPr>
      </p:pic>
      <p:sp>
        <p:nvSpPr>
          <p:cNvPr id="6" name="Text 3"/>
          <p:cNvSpPr/>
          <p:nvPr/>
        </p:nvSpPr>
        <p:spPr>
          <a:xfrm>
            <a:off x="640080" y="4134415"/>
            <a:ext cx="5120640" cy="256032"/>
          </a:xfrm>
          <a:prstGeom prst="rect">
            <a:avLst/>
          </a:prstGeom>
          <a:noFill/>
          <a:ln/>
        </p:spPr>
        <p:txBody>
          <a:bodyPr wrap="square" lIns="0" tIns="0" rIns="0" bIns="0" rtlCol="0" anchor="ctr"/>
          <a:lstStyle/>
          <a:p>
            <a:pPr marL="0" indent="0">
              <a:buNone/>
            </a:pPr>
            <a:r>
              <a:rPr lang="en-US" sz="900" i="1">
                <a:solidFill>
                  <a:srgbClr val="9A9A9A"/>
                </a:solidFill>
                <a:latin typeface="Calibri" panose="020F0502020204030204" pitchFamily="34" charset="0"/>
                <a:ea typeface="Calibri" panose="020F0502020204030204" pitchFamily="34" charset="0"/>
                <a:cs typeface="Calibri" panose="020F0502020204030204" pitchFamily="34" charset="0"/>
              </a:rPr>
              <a:t>One skill, one paper, one cohort — only the presentation changes</a:t>
            </a:r>
            <a:endParaRPr lang="en-US" sz="900"/>
          </a:p>
        </p:txBody>
      </p:sp>
      <p:pic>
        <p:nvPicPr>
          <p:cNvPr id="7" name="Image 1" descr="/home/claude/figs/fig/nb1_c73_0.png"/>
          <p:cNvPicPr>
            <a:picLocks noChangeAspect="1"/>
          </p:cNvPicPr>
          <p:nvPr/>
        </p:nvPicPr>
        <p:blipFill>
          <a:blip r:embed="rId4"/>
          <a:stretch>
            <a:fillRect/>
          </a:stretch>
        </p:blipFill>
        <p:spPr>
          <a:xfrm>
            <a:off x="6096000" y="1965960"/>
            <a:ext cx="5894694" cy="1659636"/>
          </a:xfrm>
          <a:prstGeom prst="rect">
            <a:avLst/>
          </a:prstGeom>
        </p:spPr>
      </p:pic>
      <p:sp>
        <p:nvSpPr>
          <p:cNvPr id="8" name="Text 4"/>
          <p:cNvSpPr/>
          <p:nvPr/>
        </p:nvSpPr>
        <p:spPr>
          <a:xfrm>
            <a:off x="6430975" y="3747515"/>
            <a:ext cx="5120640" cy="256032"/>
          </a:xfrm>
          <a:prstGeom prst="rect">
            <a:avLst/>
          </a:prstGeom>
          <a:noFill/>
          <a:ln/>
        </p:spPr>
        <p:txBody>
          <a:bodyPr wrap="square" lIns="0" tIns="0" rIns="0" bIns="0" rtlCol="0" anchor="ctr"/>
          <a:lstStyle/>
          <a:p>
            <a:pPr marL="0" indent="0">
              <a:buNone/>
            </a:pPr>
            <a:r>
              <a:rPr lang="en-US" sz="900" i="1">
                <a:solidFill>
                  <a:srgbClr val="9A9A9A"/>
                </a:solidFill>
                <a:latin typeface="Calibri" panose="020F0502020204030204" pitchFamily="34" charset="0"/>
                <a:ea typeface="Calibri" panose="020F0502020204030204" pitchFamily="34" charset="0"/>
                <a:cs typeface="Calibri" panose="020F0502020204030204" pitchFamily="34" charset="0"/>
              </a:rPr>
              <a:t>The same operation with and without a carry or borrow · section 7.4</a:t>
            </a:r>
            <a:endParaRPr lang="en-US" sz="900"/>
          </a:p>
        </p:txBody>
      </p:sp>
      <p:sp>
        <p:nvSpPr>
          <p:cNvPr id="9" name="Text 5"/>
          <p:cNvSpPr/>
          <p:nvPr/>
        </p:nvSpPr>
        <p:spPr>
          <a:xfrm>
            <a:off x="640080" y="4526280"/>
            <a:ext cx="51206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LANGUAGE</a:t>
            </a:r>
            <a:endParaRPr lang="en-US" sz="900"/>
          </a:p>
        </p:txBody>
      </p:sp>
      <p:sp>
        <p:nvSpPr>
          <p:cNvPr id="10" name="Text 6"/>
          <p:cNvSpPr/>
          <p:nvPr/>
        </p:nvSpPr>
        <p:spPr>
          <a:xfrm>
            <a:off x="640080" y="4782312"/>
            <a:ext cx="5120640" cy="1463040"/>
          </a:xfrm>
          <a:prstGeom prst="rect">
            <a:avLst/>
          </a:prstGeom>
          <a:noFill/>
          <a:ln/>
        </p:spPr>
        <p:txBody>
          <a:bodyPr wrap="square" lIns="0" tIns="0" rIns="0" bIns="0" rtlCol="0" anchor="t"/>
          <a:lstStyle/>
          <a:p>
            <a:pPr>
              <a:lnSpc>
                <a:spcPct val="126000"/>
              </a:lnSpc>
            </a:pPr>
            <a:r>
              <a:rPr lang="en-US" sz="1200">
                <a:solidFill>
                  <a:srgbClr val="111111"/>
                </a:solidFill>
                <a:latin typeface="Calibri"/>
                <a:ea typeface="Calibri"/>
                <a:cs typeface="Calibri"/>
              </a:rPr>
              <a:t>Addition with carry, 2024-25 grade 5: 74% of children solve it as a number sentence and 36% when the same arithmetic is wrapped in a sentence. Part of what reads as an arithmetic gap is a reading gap, which points at language support rather than more drill math learning.</a:t>
            </a:r>
            <a:endParaRPr lang="en-US" sz="1200">
              <a:latin typeface="Calibri"/>
              <a:ea typeface="Calibri"/>
              <a:cs typeface="Calibri"/>
            </a:endParaRPr>
          </a:p>
        </p:txBody>
      </p:sp>
      <p:sp>
        <p:nvSpPr>
          <p:cNvPr id="11" name="Text 7"/>
          <p:cNvSpPr/>
          <p:nvPr/>
        </p:nvSpPr>
        <p:spPr>
          <a:xfrm>
            <a:off x="6428232" y="4526280"/>
            <a:ext cx="51206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REGROUPING</a:t>
            </a:r>
            <a:endParaRPr lang="en-US" sz="900"/>
          </a:p>
        </p:txBody>
      </p:sp>
      <p:sp>
        <p:nvSpPr>
          <p:cNvPr id="12" name="Text 8"/>
          <p:cNvSpPr/>
          <p:nvPr/>
        </p:nvSpPr>
        <p:spPr>
          <a:xfrm>
            <a:off x="6428232" y="4782312"/>
            <a:ext cx="5120640" cy="1463040"/>
          </a:xfrm>
          <a:prstGeom prst="rect">
            <a:avLst/>
          </a:prstGeom>
          <a:noFill/>
          <a:ln/>
        </p:spPr>
        <p:txBody>
          <a:bodyPr wrap="square" lIns="0" tIns="0" rIns="0" bIns="0" rtlCol="0" anchor="t"/>
          <a:lstStyle/>
          <a:p>
            <a:pPr marL="0" indent="0">
              <a:lnSpc>
                <a:spcPct val="126000"/>
              </a:lnSpc>
              <a:buNone/>
            </a:pPr>
            <a:r>
              <a:rPr lang="en-US" sz="1200">
                <a:solidFill>
                  <a:srgbClr val="111111"/>
                </a:solidFill>
                <a:latin typeface="Calibri" panose="020F0502020204030204" pitchFamily="34" charset="0"/>
                <a:ea typeface="Calibri" panose="020F0502020204030204" pitchFamily="34" charset="0"/>
                <a:cs typeface="Calibri" panose="020F0502020204030204" pitchFamily="34" charset="0"/>
              </a:rPr>
              <a:t>14.7% of children — about one in seven — answer the plain question correctly and then miss the same operation the moment it needs a carry or a borrow. They already have the operation. What is missing is one procedure, and it is the narrowest gap anywhere in this dataset.</a:t>
            </a:r>
            <a:endParaRPr lang="en-US" sz="1200"/>
          </a:p>
        </p:txBody>
      </p:sp>
      <p:sp>
        <p:nvSpPr>
          <p:cNvPr id="13" name="Text 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11</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7 · GENDER ANALYSIS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pPr marL="0" indent="0">
              <a:buNone/>
            </a:pPr>
            <a:r>
              <a:rPr lang="en-US" sz="3000" b="1">
                <a:solidFill>
                  <a:srgbClr val="111111"/>
                </a:solidFill>
                <a:latin typeface="Calibri" panose="020F0502020204030204" pitchFamily="34" charset="0"/>
                <a:ea typeface="Calibri" panose="020F0502020204030204" pitchFamily="34" charset="0"/>
                <a:cs typeface="Calibri" panose="020F0502020204030204" pitchFamily="34" charset="0"/>
              </a:rPr>
              <a:t>The gender gap is small, and it does not point one way</a:t>
            </a:r>
            <a:endParaRPr lang="en-US" sz="3000"/>
          </a:p>
        </p:txBody>
      </p:sp>
      <p:pic>
        <p:nvPicPr>
          <p:cNvPr id="5" name="Image 0" descr="/home/claude/figs/fig/nb1_c38_0.png"/>
          <p:cNvPicPr>
            <a:picLocks noChangeAspect="1"/>
          </p:cNvPicPr>
          <p:nvPr/>
        </p:nvPicPr>
        <p:blipFill>
          <a:blip r:embed="rId3"/>
          <a:stretch>
            <a:fillRect/>
          </a:stretch>
        </p:blipFill>
        <p:spPr>
          <a:xfrm>
            <a:off x="474427" y="1783080"/>
            <a:ext cx="6000585" cy="1960890"/>
          </a:xfrm>
          <a:prstGeom prst="rect">
            <a:avLst/>
          </a:prstGeom>
        </p:spPr>
      </p:pic>
      <p:sp>
        <p:nvSpPr>
          <p:cNvPr id="6" name="Text 3"/>
          <p:cNvSpPr/>
          <p:nvPr/>
        </p:nvSpPr>
        <p:spPr>
          <a:xfrm>
            <a:off x="640080" y="3940500"/>
            <a:ext cx="5669280" cy="256032"/>
          </a:xfrm>
          <a:prstGeom prst="rect">
            <a:avLst/>
          </a:prstGeom>
          <a:noFill/>
          <a:ln/>
        </p:spPr>
        <p:txBody>
          <a:bodyPr wrap="square" lIns="0" tIns="0" rIns="0" bIns="0" rtlCol="0" anchor="ctr"/>
          <a:lstStyle/>
          <a:p>
            <a:pPr marL="0" indent="0">
              <a:buNone/>
            </a:pPr>
            <a:r>
              <a:rPr lang="en-US" sz="900" i="1">
                <a:solidFill>
                  <a:srgbClr val="9A9A9A"/>
                </a:solidFill>
                <a:latin typeface="Calibri" panose="020F0502020204030204" pitchFamily="34" charset="0"/>
                <a:ea typeface="Calibri" panose="020F0502020204030204" pitchFamily="34" charset="0"/>
                <a:cs typeface="Calibri" panose="020F0502020204030204" pitchFamily="34" charset="0"/>
              </a:rPr>
              <a:t>Mean score and the boys-minus-girls gap with confidence intervals · section 5.3</a:t>
            </a:r>
            <a:endParaRPr lang="en-US" sz="900"/>
          </a:p>
        </p:txBody>
      </p:sp>
      <p:pic>
        <p:nvPicPr>
          <p:cNvPr id="7" name="Image 1" descr="/home/claude/figs/fig/nb1_c54_0.png"/>
          <p:cNvPicPr>
            <a:picLocks noChangeAspect="1"/>
          </p:cNvPicPr>
          <p:nvPr/>
        </p:nvPicPr>
        <p:blipFill>
          <a:blip r:embed="rId4"/>
          <a:stretch>
            <a:fillRect/>
          </a:stretch>
        </p:blipFill>
        <p:spPr>
          <a:xfrm>
            <a:off x="6675120" y="1783080"/>
            <a:ext cx="4846320" cy="2343368"/>
          </a:xfrm>
          <a:prstGeom prst="rect">
            <a:avLst/>
          </a:prstGeom>
        </p:spPr>
      </p:pic>
      <p:sp>
        <p:nvSpPr>
          <p:cNvPr id="8" name="Text 4"/>
          <p:cNvSpPr/>
          <p:nvPr/>
        </p:nvSpPr>
        <p:spPr>
          <a:xfrm>
            <a:off x="6675120" y="4190456"/>
            <a:ext cx="4846320" cy="256032"/>
          </a:xfrm>
          <a:prstGeom prst="rect">
            <a:avLst/>
          </a:prstGeom>
          <a:noFill/>
          <a:ln/>
        </p:spPr>
        <p:txBody>
          <a:bodyPr wrap="square" lIns="0" tIns="0" rIns="0" bIns="0" rtlCol="0" anchor="ctr"/>
          <a:lstStyle/>
          <a:p>
            <a:pPr marL="0" indent="0">
              <a:buNone/>
            </a:pPr>
            <a:r>
              <a:rPr lang="en-US" sz="900" i="1">
                <a:solidFill>
                  <a:srgbClr val="9A9A9A"/>
                </a:solidFill>
                <a:latin typeface="Calibri" panose="020F0502020204030204" pitchFamily="34" charset="0"/>
                <a:ea typeface="Calibri" panose="020F0502020204030204" pitchFamily="34" charset="0"/>
                <a:cs typeface="Calibri" panose="020F0502020204030204" pitchFamily="34" charset="0"/>
              </a:rPr>
              <a:t>The same gap read competency by competency · section 6.4</a:t>
            </a:r>
            <a:endParaRPr lang="en-US" sz="900"/>
          </a:p>
        </p:txBody>
      </p:sp>
      <p:sp>
        <p:nvSpPr>
          <p:cNvPr id="9" name="Text 5"/>
          <p:cNvSpPr/>
          <p:nvPr/>
        </p:nvSpPr>
        <p:spPr>
          <a:xfrm>
            <a:off x="640080" y="4572000"/>
            <a:ext cx="539496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WHAT A SINGLE STATE NUMBER HIDES</a:t>
            </a:r>
            <a:endParaRPr lang="en-US" sz="900"/>
          </a:p>
        </p:txBody>
      </p:sp>
      <p:sp>
        <p:nvSpPr>
          <p:cNvPr id="10" name="Text 6"/>
          <p:cNvSpPr/>
          <p:nvPr/>
        </p:nvSpPr>
        <p:spPr>
          <a:xfrm>
            <a:off x="640080" y="4828032"/>
            <a:ext cx="5394960" cy="1371600"/>
          </a:xfrm>
          <a:prstGeom prst="rect">
            <a:avLst/>
          </a:prstGeom>
          <a:noFill/>
          <a:ln/>
        </p:spPr>
        <p:txBody>
          <a:bodyPr wrap="square" lIns="0" tIns="0" rIns="0" bIns="0" rtlCol="0" anchor="t"/>
          <a:lstStyle/>
          <a:p>
            <a:pPr marL="0" indent="0">
              <a:lnSpc>
                <a:spcPct val="126000"/>
              </a:lnSpc>
              <a:buNone/>
            </a:pPr>
            <a:r>
              <a:rPr lang="en-US" sz="1200">
                <a:solidFill>
                  <a:srgbClr val="111111"/>
                </a:solidFill>
                <a:latin typeface="Calibri" panose="020F0502020204030204" pitchFamily="34" charset="0"/>
                <a:ea typeface="Calibri" panose="020F0502020204030204" pitchFamily="34" charset="0"/>
                <a:cs typeface="Calibri" panose="020F0502020204030204" pitchFamily="34" charset="0"/>
              </a:rPr>
              <a:t>Girls lead by 0.3 to 0.6 score points in every grade and year, and the interval never crosses zero. Read competency by competency the picture is more useful: girls lead on multiplication, addition and division by 2 to 3 points, and boys and girls are level on measurement.</a:t>
            </a:r>
            <a:endParaRPr lang="en-US" sz="1200"/>
          </a:p>
        </p:txBody>
      </p:sp>
      <p:sp>
        <p:nvSpPr>
          <p:cNvPr id="11" name="Text 7"/>
          <p:cNvSpPr/>
          <p:nvPr/>
        </p:nvSpPr>
        <p:spPr>
          <a:xfrm>
            <a:off x="6675120" y="4572000"/>
            <a:ext cx="484632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WHERE IT WIDENS, AND WHAT TO DO WITH IT</a:t>
            </a:r>
            <a:endParaRPr lang="en-US" sz="900"/>
          </a:p>
        </p:txBody>
      </p:sp>
      <p:sp>
        <p:nvSpPr>
          <p:cNvPr id="12" name="Text 8"/>
          <p:cNvSpPr/>
          <p:nvPr/>
        </p:nvSpPr>
        <p:spPr>
          <a:xfrm>
            <a:off x="6675120" y="4828032"/>
            <a:ext cx="4846320" cy="1371600"/>
          </a:xfrm>
          <a:prstGeom prst="rect">
            <a:avLst/>
          </a:prstGeom>
          <a:noFill/>
          <a:ln/>
        </p:spPr>
        <p:txBody>
          <a:bodyPr wrap="square" lIns="0" tIns="0" rIns="0" bIns="0" rtlCol="0" anchor="t"/>
          <a:lstStyle/>
          <a:p>
            <a:pPr marL="0" indent="0">
              <a:lnSpc>
                <a:spcPct val="126000"/>
              </a:lnSpc>
              <a:buNone/>
            </a:pPr>
            <a:r>
              <a:rPr lang="en-US" sz="1200">
                <a:solidFill>
                  <a:srgbClr val="111111"/>
                </a:solidFill>
                <a:latin typeface="Calibri" panose="020F0502020204030204" pitchFamily="34" charset="0"/>
                <a:ea typeface="Calibri" panose="020F0502020204030204" pitchFamily="34" charset="0"/>
                <a:cs typeface="Calibri" panose="020F0502020204030204" pitchFamily="34" charset="0"/>
              </a:rPr>
              <a:t>The gap is wider on abstract items than on word problems, so it moves with item type rather than with subject. Support is better targeted by question format than reported as one state-level figure that averages the differences away.</a:t>
            </a:r>
            <a:endParaRPr lang="en-US" sz="1200"/>
          </a:p>
        </p:txBody>
      </p:sp>
      <p:sp>
        <p:nvSpPr>
          <p:cNvPr id="13" name="Text 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12</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8 · DISTRICT-LEVEL ANALYSIS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latin typeface="Calibri"/>
                <a:ea typeface="Calibri"/>
                <a:cs typeface="Calibri"/>
              </a:rPr>
              <a:t>District Level Competency Analysis</a:t>
            </a:r>
            <a:endParaRPr lang="en-US"/>
          </a:p>
        </p:txBody>
      </p:sp>
      <p:pic>
        <p:nvPicPr>
          <p:cNvPr id="5" name="Image 0" descr="/home/claude/figs/fig/nb1_c42_0.png"/>
          <p:cNvPicPr>
            <a:picLocks noChangeAspect="1"/>
          </p:cNvPicPr>
          <p:nvPr/>
        </p:nvPicPr>
        <p:blipFill>
          <a:blip r:embed="rId3"/>
          <a:srcRect l="735" t="-549" r="49753" b="-1519"/>
          <a:stretch>
            <a:fillRect/>
          </a:stretch>
        </p:blipFill>
        <p:spPr>
          <a:xfrm>
            <a:off x="1574934" y="1520024"/>
            <a:ext cx="3644063" cy="4607961"/>
          </a:xfrm>
          <a:prstGeom prst="rect">
            <a:avLst/>
          </a:prstGeom>
        </p:spPr>
      </p:pic>
      <p:sp>
        <p:nvSpPr>
          <p:cNvPr id="6" name="Text 3"/>
          <p:cNvSpPr/>
          <p:nvPr/>
        </p:nvSpPr>
        <p:spPr>
          <a:xfrm>
            <a:off x="960340" y="6317379"/>
            <a:ext cx="5486400" cy="256032"/>
          </a:xfrm>
          <a:prstGeom prst="rect">
            <a:avLst/>
          </a:prstGeom>
          <a:noFill/>
          <a:ln/>
        </p:spPr>
        <p:txBody>
          <a:bodyPr wrap="square" lIns="0" tIns="0" rIns="0" bIns="0" rtlCol="0" anchor="ctr"/>
          <a:lstStyle/>
          <a:p>
            <a:pPr marL="0" indent="0">
              <a:buNone/>
            </a:pPr>
            <a:r>
              <a:rPr lang="en-US" sz="900" i="1">
                <a:solidFill>
                  <a:srgbClr val="9A9A9A"/>
                </a:solidFill>
                <a:latin typeface="Calibri"/>
                <a:ea typeface="Calibri"/>
                <a:cs typeface="Calibri"/>
              </a:rPr>
              <a:t>Children below half the paper, by rate and by headcount ·</a:t>
            </a:r>
            <a:endParaRPr lang="en-US" sz="900"/>
          </a:p>
        </p:txBody>
      </p:sp>
      <p:pic>
        <p:nvPicPr>
          <p:cNvPr id="7" name="Image 1" descr="/home/claude/figs/fig/nb1_c56_0.png"/>
          <p:cNvPicPr>
            <a:picLocks noChangeAspect="1"/>
          </p:cNvPicPr>
          <p:nvPr/>
        </p:nvPicPr>
        <p:blipFill>
          <a:blip r:embed="rId4"/>
          <a:stretch>
            <a:fillRect/>
          </a:stretch>
        </p:blipFill>
        <p:spPr>
          <a:xfrm>
            <a:off x="6104173" y="1428143"/>
            <a:ext cx="4811864" cy="4497048"/>
          </a:xfrm>
          <a:prstGeom prst="rect">
            <a:avLst/>
          </a:prstGeom>
        </p:spPr>
      </p:pic>
      <p:sp>
        <p:nvSpPr>
          <p:cNvPr id="8" name="Text 4"/>
          <p:cNvSpPr/>
          <p:nvPr/>
        </p:nvSpPr>
        <p:spPr>
          <a:xfrm>
            <a:off x="6446520" y="6187982"/>
            <a:ext cx="4480560" cy="256032"/>
          </a:xfrm>
          <a:prstGeom prst="rect">
            <a:avLst/>
          </a:prstGeom>
          <a:noFill/>
          <a:ln/>
        </p:spPr>
        <p:txBody>
          <a:bodyPr wrap="square" lIns="0" tIns="0" rIns="0" bIns="0" rtlCol="0" anchor="ctr"/>
          <a:lstStyle/>
          <a:p>
            <a:pPr marL="0" indent="0">
              <a:buNone/>
            </a:pPr>
            <a:r>
              <a:rPr lang="en-US" sz="900" i="1">
                <a:solidFill>
                  <a:srgbClr val="9A9A9A"/>
                </a:solidFill>
                <a:latin typeface="Calibri" panose="020F0502020204030204" pitchFamily="34" charset="0"/>
                <a:ea typeface="Calibri" panose="020F0502020204030204" pitchFamily="34" charset="0"/>
                <a:cs typeface="Calibri" panose="020F0502020204030204" pitchFamily="34" charset="0"/>
              </a:rPr>
              <a:t>District by competency — read a row to find that district's own opening · section 6.5</a:t>
            </a:r>
            <a:endParaRPr lang="en-US" sz="900"/>
          </a:p>
        </p:txBody>
      </p:sp>
      <p:sp>
        <p:nvSpPr>
          <p:cNvPr id="11" name="Text 7"/>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13</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KEY INSIGHT 9 · BLOCK AND GRAM PANCHAYAT ANALYSIS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ea typeface="+mn-lt"/>
                <a:cs typeface="+mn-lt"/>
              </a:rPr>
              <a:t>Comparing GPs Within Their Block</a:t>
            </a:r>
            <a:endParaRPr lang="en-US" sz="3000">
              <a:solidFill>
                <a:srgbClr val="000000"/>
              </a:solidFill>
              <a:ea typeface="+mn-lt"/>
              <a:cs typeface="+mn-lt"/>
            </a:endParaRPr>
          </a:p>
          <a:p>
            <a:endParaRPr lang="en-US" sz="3000" b="1">
              <a:solidFill>
                <a:srgbClr val="111111"/>
              </a:solidFill>
              <a:ea typeface="Calibri"/>
              <a:cs typeface="Calibri"/>
            </a:endParaRPr>
          </a:p>
        </p:txBody>
      </p:sp>
      <p:pic>
        <p:nvPicPr>
          <p:cNvPr id="5" name="Image 0" descr="/home/claude/figs/fig/nb1_c85_0.png"/>
          <p:cNvPicPr>
            <a:picLocks noChangeAspect="1"/>
          </p:cNvPicPr>
          <p:nvPr/>
        </p:nvPicPr>
        <p:blipFill>
          <a:blip r:embed="rId3"/>
          <a:stretch>
            <a:fillRect/>
          </a:stretch>
        </p:blipFill>
        <p:spPr>
          <a:xfrm>
            <a:off x="879139" y="1514139"/>
            <a:ext cx="9560161" cy="2882578"/>
          </a:xfrm>
          <a:prstGeom prst="rect">
            <a:avLst/>
          </a:prstGeom>
        </p:spPr>
      </p:pic>
      <p:sp>
        <p:nvSpPr>
          <p:cNvPr id="9" name="Text 5"/>
          <p:cNvSpPr/>
          <p:nvPr/>
        </p:nvSpPr>
        <p:spPr>
          <a:xfrm>
            <a:off x="835187" y="4774298"/>
            <a:ext cx="6492240" cy="201168"/>
          </a:xfrm>
          <a:prstGeom prst="rect">
            <a:avLst/>
          </a:prstGeom>
          <a:noFill/>
          <a:ln/>
        </p:spPr>
        <p:txBody>
          <a:bodyPr wrap="square" lIns="0" tIns="0" rIns="0" bIns="0" rtlCol="0" anchor="ctr"/>
          <a:lstStyle/>
          <a:p>
            <a:r>
              <a:rPr lang="en-US" sz="900" b="1" kern="0" spc="160">
                <a:solidFill>
                  <a:srgbClr val="6E6E6E"/>
                </a:solidFill>
                <a:ea typeface="+mn-lt"/>
                <a:cs typeface="+mn-lt"/>
              </a:rPr>
              <a:t>COMPARING SIMILAR GPs</a:t>
            </a:r>
            <a:endParaRPr lang="en-US" sz="900">
              <a:solidFill>
                <a:srgbClr val="000000"/>
              </a:solidFill>
              <a:ea typeface="Calibri"/>
              <a:cs typeface="Calibri"/>
            </a:endParaRPr>
          </a:p>
        </p:txBody>
      </p:sp>
      <p:sp>
        <p:nvSpPr>
          <p:cNvPr id="10" name="Text 6"/>
          <p:cNvSpPr/>
          <p:nvPr/>
        </p:nvSpPr>
        <p:spPr>
          <a:xfrm>
            <a:off x="845147" y="5005429"/>
            <a:ext cx="6492240" cy="910216"/>
          </a:xfrm>
          <a:prstGeom prst="rect">
            <a:avLst/>
          </a:prstGeom>
          <a:noFill/>
          <a:ln/>
        </p:spPr>
        <p:txBody>
          <a:bodyPr wrap="square" lIns="0" tIns="0" rIns="0" bIns="0" rtlCol="0" anchor="t"/>
          <a:lstStyle/>
          <a:p>
            <a:pPr>
              <a:lnSpc>
                <a:spcPct val="126000"/>
              </a:lnSpc>
            </a:pPr>
            <a:r>
              <a:rPr lang="en-US" sz="1200">
                <a:solidFill>
                  <a:srgbClr val="111111"/>
                </a:solidFill>
                <a:ea typeface="+mn-lt"/>
                <a:cs typeface="+mn-lt"/>
              </a:rPr>
              <a:t>Ranking GPs by raw score mostly highlights better-off districts. Comparing each GP within its own block keeps local conditions similar, and </a:t>
            </a:r>
            <a:r>
              <a:rPr lang="en-US" sz="1200" err="1">
                <a:solidFill>
                  <a:srgbClr val="111111"/>
                </a:solidFill>
                <a:ea typeface="+mn-lt"/>
                <a:cs typeface="+mn-lt"/>
              </a:rPr>
              <a:t>Yeragera</a:t>
            </a:r>
            <a:r>
              <a:rPr lang="en-US" sz="1200">
                <a:solidFill>
                  <a:srgbClr val="111111"/>
                </a:solidFill>
                <a:ea typeface="+mn-lt"/>
                <a:cs typeface="+mn-lt"/>
              </a:rPr>
              <a:t> in Raichur, along with </a:t>
            </a:r>
            <a:r>
              <a:rPr lang="en-US" sz="1200" err="1">
                <a:solidFill>
                  <a:srgbClr val="111111"/>
                </a:solidFill>
                <a:ea typeface="+mn-lt"/>
                <a:cs typeface="+mn-lt"/>
              </a:rPr>
              <a:t>Choranuru</a:t>
            </a:r>
            <a:r>
              <a:rPr lang="en-US" sz="1200">
                <a:solidFill>
                  <a:srgbClr val="111111"/>
                </a:solidFill>
                <a:ea typeface="+mn-lt"/>
                <a:cs typeface="+mn-lt"/>
              </a:rPr>
              <a:t> and </a:t>
            </a:r>
            <a:r>
              <a:rPr lang="en-US" sz="1200" err="1">
                <a:solidFill>
                  <a:srgbClr val="111111"/>
                </a:solidFill>
                <a:ea typeface="+mn-lt"/>
                <a:cs typeface="+mn-lt"/>
              </a:rPr>
              <a:t>Handhihal</a:t>
            </a:r>
            <a:r>
              <a:rPr lang="en-US" sz="1200">
                <a:solidFill>
                  <a:srgbClr val="111111"/>
                </a:solidFill>
                <a:ea typeface="+mn-lt"/>
                <a:cs typeface="+mn-lt"/>
              </a:rPr>
              <a:t> in Ballari, performs above its block on all nine papers. Those are the GPs worth studying and learning from.</a:t>
            </a:r>
            <a:endParaRPr lang="en-US">
              <a:ea typeface="+mn-lt"/>
              <a:cs typeface="+mn-lt"/>
            </a:endParaRPr>
          </a:p>
        </p:txBody>
      </p:sp>
      <p:sp>
        <p:nvSpPr>
          <p:cNvPr id="11" name="Text 7"/>
          <p:cNvSpPr/>
          <p:nvPr/>
        </p:nvSpPr>
        <p:spPr>
          <a:xfrm>
            <a:off x="854237" y="5990715"/>
            <a:ext cx="64922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A CAUTION ON BLOCK TRENDS</a:t>
            </a:r>
            <a:endParaRPr lang="en-US" sz="900"/>
          </a:p>
        </p:txBody>
      </p:sp>
      <p:sp>
        <p:nvSpPr>
          <p:cNvPr id="12" name="Text 8"/>
          <p:cNvSpPr/>
          <p:nvPr/>
        </p:nvSpPr>
        <p:spPr>
          <a:xfrm>
            <a:off x="849257" y="6217681"/>
            <a:ext cx="6492240" cy="716179"/>
          </a:xfrm>
          <a:prstGeom prst="rect">
            <a:avLst/>
          </a:prstGeom>
          <a:noFill/>
          <a:ln/>
        </p:spPr>
        <p:txBody>
          <a:bodyPr wrap="square" lIns="0" tIns="0" rIns="0" bIns="0" rtlCol="0" anchor="t"/>
          <a:lstStyle/>
          <a:p>
            <a:pPr>
              <a:lnSpc>
                <a:spcPct val="115000"/>
              </a:lnSpc>
            </a:pPr>
            <a:r>
              <a:rPr lang="en-US" sz="1050" b="1">
                <a:solidFill>
                  <a:srgbClr val="6E6E6E"/>
                </a:solidFill>
                <a:ea typeface="+mn-lt"/>
                <a:cs typeface="+mn-lt"/>
              </a:rPr>
              <a:t>Because the assessment papers also changed between years, these trends should be interpreted with caution and used to guide further investigation..</a:t>
            </a:r>
            <a:r>
              <a:rPr lang="en-US" sz="1050">
                <a:solidFill>
                  <a:srgbClr val="6E6E6E"/>
                </a:solidFill>
                <a:latin typeface="Calibri"/>
                <a:ea typeface="Calibri"/>
                <a:cs typeface="Calibri"/>
              </a:rPr>
              <a:t>.</a:t>
            </a:r>
            <a:endParaRPr lang="en-US" sz="1050"/>
          </a:p>
        </p:txBody>
      </p:sp>
      <p:sp>
        <p:nvSpPr>
          <p:cNvPr id="13" name="Text 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14</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PREDICTIVE &amp; DIAGNOSTIC ANALYSIS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pPr marL="0" indent="0">
              <a:buNone/>
            </a:pPr>
            <a:r>
              <a:rPr lang="en-US" sz="3000" b="1">
                <a:solidFill>
                  <a:srgbClr val="111111"/>
                </a:solidFill>
                <a:latin typeface="Calibri"/>
                <a:ea typeface="Calibri"/>
                <a:cs typeface="Calibri"/>
              </a:rPr>
              <a:t>What to teach first</a:t>
            </a:r>
            <a:endParaRPr lang="en-US" sz="3000">
              <a:latin typeface="Calibri"/>
              <a:ea typeface="Calibri"/>
              <a:cs typeface="Calibri"/>
            </a:endParaRPr>
          </a:p>
        </p:txBody>
      </p:sp>
      <p:pic>
        <p:nvPicPr>
          <p:cNvPr id="5" name="Image 0" descr="/home/claude/figs/fig/nb1_c80_0.png"/>
          <p:cNvPicPr>
            <a:picLocks noChangeAspect="1"/>
          </p:cNvPicPr>
          <p:nvPr/>
        </p:nvPicPr>
        <p:blipFill>
          <a:blip r:embed="rId3"/>
          <a:srcRect t="9871" r="-44"/>
          <a:stretch>
            <a:fillRect/>
          </a:stretch>
        </p:blipFill>
        <p:spPr>
          <a:xfrm>
            <a:off x="414528" y="1614645"/>
            <a:ext cx="11378795" cy="2966066"/>
          </a:xfrm>
          <a:prstGeom prst="rect">
            <a:avLst/>
          </a:prstGeom>
        </p:spPr>
      </p:pic>
      <p:sp>
        <p:nvSpPr>
          <p:cNvPr id="6" name="Text 3"/>
          <p:cNvSpPr/>
          <p:nvPr/>
        </p:nvSpPr>
        <p:spPr>
          <a:xfrm>
            <a:off x="1357503" y="4744618"/>
            <a:ext cx="9692640" cy="256032"/>
          </a:xfrm>
          <a:prstGeom prst="rect">
            <a:avLst/>
          </a:prstGeom>
          <a:noFill/>
          <a:ln/>
        </p:spPr>
        <p:txBody>
          <a:bodyPr wrap="square" lIns="0" tIns="0" rIns="0" bIns="0" rtlCol="0" anchor="ctr"/>
          <a:lstStyle/>
          <a:p>
            <a:pPr marL="0" indent="0" algn="ctr">
              <a:buNone/>
            </a:pPr>
            <a:r>
              <a:rPr lang="en-US" sz="900" i="1">
                <a:solidFill>
                  <a:srgbClr val="9A9A9A"/>
                </a:solidFill>
                <a:latin typeface="Calibri"/>
                <a:ea typeface="Calibri"/>
                <a:cs typeface="Calibri"/>
              </a:rPr>
              <a:t>How much having one competency raises the chance of having another, by grade</a:t>
            </a:r>
            <a:endParaRPr lang="en-US" sz="900">
              <a:latin typeface="Calibri"/>
              <a:ea typeface="Calibri"/>
              <a:cs typeface="Calibri"/>
            </a:endParaRPr>
          </a:p>
        </p:txBody>
      </p:sp>
      <p:sp>
        <p:nvSpPr>
          <p:cNvPr id="7" name="Text 4"/>
          <p:cNvSpPr/>
          <p:nvPr/>
        </p:nvSpPr>
        <p:spPr>
          <a:xfrm>
            <a:off x="640080" y="5074920"/>
            <a:ext cx="512064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DIAGNOSTIC · TEACHING ORDER</a:t>
            </a:r>
            <a:endParaRPr lang="en-US" sz="900"/>
          </a:p>
        </p:txBody>
      </p:sp>
      <p:sp>
        <p:nvSpPr>
          <p:cNvPr id="8" name="Text 5"/>
          <p:cNvSpPr/>
          <p:nvPr/>
        </p:nvSpPr>
        <p:spPr>
          <a:xfrm>
            <a:off x="664981" y="5306051"/>
            <a:ext cx="6893660" cy="1264321"/>
          </a:xfrm>
          <a:prstGeom prst="rect">
            <a:avLst/>
          </a:prstGeom>
          <a:noFill/>
          <a:ln/>
        </p:spPr>
        <p:txBody>
          <a:bodyPr wrap="square" lIns="0" tIns="0" rIns="0" bIns="0" rtlCol="0" anchor="t"/>
          <a:lstStyle/>
          <a:p>
            <a:pPr>
              <a:lnSpc>
                <a:spcPct val="126000"/>
              </a:lnSpc>
            </a:pPr>
            <a:r>
              <a:rPr lang="en-US" sz="1400">
                <a:solidFill>
                  <a:srgbClr val="111111"/>
                </a:solidFill>
                <a:latin typeface="Calibri"/>
                <a:ea typeface="Calibri"/>
                <a:cs typeface="Calibri"/>
              </a:rPr>
              <a:t>Priority combines how much a competency gates the others with how much room it still has.</a:t>
            </a:r>
            <a:endParaRPr lang="en-US" sz="1400">
              <a:solidFill>
                <a:srgbClr val="000000"/>
              </a:solidFill>
              <a:latin typeface="Calibri"/>
              <a:ea typeface="Calibri"/>
              <a:cs typeface="Calibri"/>
            </a:endParaRPr>
          </a:p>
          <a:p>
            <a:pPr marL="285750" indent="-285750">
              <a:lnSpc>
                <a:spcPct val="126000"/>
              </a:lnSpc>
              <a:buFont typeface="Arial"/>
              <a:buChar char="•"/>
            </a:pPr>
            <a:r>
              <a:rPr lang="en-US" sz="1400">
                <a:solidFill>
                  <a:srgbClr val="111111"/>
                </a:solidFill>
                <a:latin typeface="Calibri"/>
                <a:ea typeface="Calibri"/>
                <a:cs typeface="Calibri"/>
              </a:rPr>
              <a:t>Grade 4 opens with division, then multiplication and measurement; </a:t>
            </a:r>
            <a:endParaRPr lang="en-US" sz="1400">
              <a:solidFill>
                <a:srgbClr val="000000"/>
              </a:solidFill>
              <a:latin typeface="Calibri"/>
              <a:ea typeface="Calibri"/>
              <a:cs typeface="Calibri"/>
            </a:endParaRPr>
          </a:p>
          <a:p>
            <a:pPr marL="285750" indent="-285750">
              <a:lnSpc>
                <a:spcPct val="126000"/>
              </a:lnSpc>
              <a:buFont typeface="Arial"/>
              <a:buChar char="•"/>
            </a:pPr>
            <a:r>
              <a:rPr lang="en-US" sz="1400">
                <a:solidFill>
                  <a:srgbClr val="111111"/>
                </a:solidFill>
                <a:latin typeface="Calibri"/>
                <a:ea typeface="Calibri"/>
                <a:cs typeface="Calibri"/>
              </a:rPr>
              <a:t>grade 5 opens with measurement and division. </a:t>
            </a:r>
            <a:endParaRPr lang="en-US" sz="1400">
              <a:latin typeface="Calibri"/>
              <a:ea typeface="Calibri"/>
              <a:cs typeface="Calibri"/>
            </a:endParaRPr>
          </a:p>
        </p:txBody>
      </p:sp>
      <p:sp>
        <p:nvSpPr>
          <p:cNvPr id="11" name="Text 8"/>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15</a:t>
            </a:r>
            <a:endParaRPr lang="en-US" sz="1000"/>
          </a:p>
        </p:txBody>
      </p:sp>
      <p:sp>
        <p:nvSpPr>
          <p:cNvPr id="13" name="TextBox 12">
            <a:extLst>
              <a:ext uri="{FF2B5EF4-FFF2-40B4-BE49-F238E27FC236}">
                <a16:creationId xmlns:a16="http://schemas.microsoft.com/office/drawing/2014/main" id="{32AEB6BE-3852-3FAB-21C2-FC323A1EABEB}"/>
              </a:ext>
            </a:extLst>
          </p:cNvPr>
          <p:cNvSpPr txBox="1"/>
          <p:nvPr/>
        </p:nvSpPr>
        <p:spPr>
          <a:xfrm>
            <a:off x="4526222" y="1297126"/>
            <a:ext cx="38045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t>How one skill </a:t>
            </a:r>
            <a:r>
              <a:rPr lang="en-US"/>
              <a:t>precedes</a:t>
            </a:r>
            <a:r>
              <a:rPr lang="en-US" dirty="0"/>
              <a:t> another</a:t>
            </a:r>
          </a:p>
          <a:p>
            <a:pPr algn="l"/>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617220"/>
            <a:ext cx="100584" cy="100584"/>
          </a:xfrm>
          <a:prstGeom prst="rect">
            <a:avLst/>
          </a:prstGeom>
          <a:solidFill>
            <a:srgbClr val="E8B10A"/>
          </a:solidFill>
          <a:ln/>
        </p:spPr>
      </p:sp>
      <p:sp>
        <p:nvSpPr>
          <p:cNvPr id="3" name="Text 1"/>
          <p:cNvSpPr/>
          <p:nvPr/>
        </p:nvSpPr>
        <p:spPr>
          <a:xfrm>
            <a:off x="877824" y="539496"/>
            <a:ext cx="9144000" cy="256032"/>
          </a:xfrm>
          <a:prstGeom prst="rect">
            <a:avLst/>
          </a:prstGeom>
          <a:noFill/>
          <a:ln/>
        </p:spPr>
        <p:txBody>
          <a:bodyPr wrap="square" lIns="0" tIns="0" rIns="0" bIns="0" rtlCol="0" anchor="ctr"/>
          <a:lstStyle/>
          <a:p>
            <a:pPr marL="0" indent="0">
              <a:buNone/>
            </a:pPr>
            <a:r>
              <a:rPr lang="en-US" sz="1000" b="1" kern="0" spc="200">
                <a:solidFill>
                  <a:srgbClr val="6E6E6E"/>
                </a:solidFill>
                <a:latin typeface="Calibri" panose="020F0502020204030204" pitchFamily="34" charset="0"/>
                <a:ea typeface="Calibri" panose="020F0502020204030204" pitchFamily="34" charset="0"/>
                <a:cs typeface="Calibri" panose="020F0502020204030204" pitchFamily="34" charset="0"/>
              </a:rPr>
              <a:t>CROSS-DATASET CHECK · SECONDARY SOURCES</a:t>
            </a:r>
            <a:endParaRPr lang="en-US" sz="1000"/>
          </a:p>
        </p:txBody>
      </p:sp>
      <p:sp>
        <p:nvSpPr>
          <p:cNvPr id="4" name="Text 2"/>
          <p:cNvSpPr/>
          <p:nvPr/>
        </p:nvSpPr>
        <p:spPr>
          <a:xfrm>
            <a:off x="640080" y="868680"/>
            <a:ext cx="10911535" cy="749808"/>
          </a:xfrm>
          <a:prstGeom prst="rect">
            <a:avLst/>
          </a:prstGeom>
          <a:noFill/>
          <a:ln/>
        </p:spPr>
        <p:txBody>
          <a:bodyPr wrap="square" lIns="0" tIns="0" rIns="0" bIns="0" rtlCol="0" anchor="t"/>
          <a:lstStyle/>
          <a:p>
            <a:pPr marL="0" indent="0">
              <a:buNone/>
            </a:pPr>
            <a:r>
              <a:rPr lang="en-US" sz="3000" b="1">
                <a:solidFill>
                  <a:srgbClr val="111111"/>
                </a:solidFill>
                <a:latin typeface="Calibri" panose="020F0502020204030204" pitchFamily="34" charset="0"/>
                <a:ea typeface="Calibri" panose="020F0502020204030204" pitchFamily="34" charset="0"/>
                <a:cs typeface="Calibri" panose="020F0502020204030204" pitchFamily="34" charset="0"/>
              </a:rPr>
              <a:t>Context accounts for about half the pattern</a:t>
            </a:r>
            <a:endParaRPr lang="en-US" sz="3000"/>
          </a:p>
        </p:txBody>
      </p:sp>
      <p:pic>
        <p:nvPicPr>
          <p:cNvPr id="5" name="Image 0" descr="/home/claude/figs/fig/nb2_c42_0.png"/>
          <p:cNvPicPr>
            <a:picLocks noChangeAspect="1"/>
          </p:cNvPicPr>
          <p:nvPr/>
        </p:nvPicPr>
        <p:blipFill>
          <a:blip r:embed="rId3"/>
          <a:stretch>
            <a:fillRect/>
          </a:stretch>
        </p:blipFill>
        <p:spPr>
          <a:xfrm>
            <a:off x="640080" y="1783080"/>
            <a:ext cx="6492240" cy="2995128"/>
          </a:xfrm>
          <a:prstGeom prst="rect">
            <a:avLst/>
          </a:prstGeom>
        </p:spPr>
      </p:pic>
      <p:sp>
        <p:nvSpPr>
          <p:cNvPr id="6" name="Text 3"/>
          <p:cNvSpPr/>
          <p:nvPr/>
        </p:nvSpPr>
        <p:spPr>
          <a:xfrm>
            <a:off x="640080" y="4842216"/>
            <a:ext cx="6492240" cy="256032"/>
          </a:xfrm>
          <a:prstGeom prst="rect">
            <a:avLst/>
          </a:prstGeom>
          <a:noFill/>
          <a:ln/>
        </p:spPr>
        <p:txBody>
          <a:bodyPr wrap="square" lIns="0" tIns="0" rIns="0" bIns="0" rtlCol="0" anchor="ctr"/>
          <a:lstStyle/>
          <a:p>
            <a:pPr marL="0" indent="0" algn="ctr">
              <a:buNone/>
            </a:pPr>
            <a:r>
              <a:rPr lang="en-US" sz="900" i="1">
                <a:solidFill>
                  <a:srgbClr val="9A9A9A"/>
                </a:solidFill>
                <a:latin typeface="Calibri"/>
                <a:ea typeface="Calibri"/>
                <a:cs typeface="Calibri"/>
              </a:rPr>
              <a:t>District mastery against Infrastructure Access and Education Access</a:t>
            </a:r>
            <a:endParaRPr lang="en-US" sz="1000">
              <a:latin typeface="Calibri"/>
              <a:ea typeface="Calibri"/>
              <a:cs typeface="Calibri"/>
            </a:endParaRPr>
          </a:p>
        </p:txBody>
      </p:sp>
      <p:sp>
        <p:nvSpPr>
          <p:cNvPr id="7" name="Text 4"/>
          <p:cNvSpPr/>
          <p:nvPr/>
        </p:nvSpPr>
        <p:spPr>
          <a:xfrm>
            <a:off x="7543800" y="1783080"/>
            <a:ext cx="4023360" cy="631767"/>
          </a:xfrm>
          <a:prstGeom prst="rect">
            <a:avLst/>
          </a:prstGeom>
          <a:noFill/>
          <a:ln/>
        </p:spPr>
        <p:txBody>
          <a:bodyPr wrap="square" lIns="0" tIns="0" rIns="0" bIns="0" rtlCol="0" anchor="t"/>
          <a:lstStyle/>
          <a:p>
            <a:pPr marL="0" indent="0">
              <a:buNone/>
            </a:pPr>
            <a:r>
              <a:rPr lang="en-US" sz="3800" b="1">
                <a:solidFill>
                  <a:srgbClr val="E8B10A"/>
                </a:solidFill>
                <a:latin typeface="Calibri" panose="020F0502020204030204" pitchFamily="34" charset="0"/>
                <a:ea typeface="Calibri" panose="020F0502020204030204" pitchFamily="34" charset="0"/>
                <a:cs typeface="Calibri" panose="020F0502020204030204" pitchFamily="34" charset="0"/>
              </a:rPr>
              <a:t>56%</a:t>
            </a:r>
            <a:endParaRPr lang="en-US" sz="3800"/>
          </a:p>
        </p:txBody>
      </p:sp>
      <p:sp>
        <p:nvSpPr>
          <p:cNvPr id="8" name="Text 5"/>
          <p:cNvSpPr/>
          <p:nvPr/>
        </p:nvSpPr>
        <p:spPr>
          <a:xfrm>
            <a:off x="7543800" y="2387415"/>
            <a:ext cx="4023360" cy="548640"/>
          </a:xfrm>
          <a:prstGeom prst="rect">
            <a:avLst/>
          </a:prstGeom>
          <a:noFill/>
          <a:ln/>
        </p:spPr>
        <p:txBody>
          <a:bodyPr wrap="square" lIns="0" tIns="0" rIns="0" bIns="0" rtlCol="0" anchor="ctr"/>
          <a:lstStyle/>
          <a:p>
            <a:pPr>
              <a:lnSpc>
                <a:spcPct val="114999"/>
              </a:lnSpc>
            </a:pPr>
            <a:r>
              <a:rPr lang="en-US" sz="1050" b="1">
                <a:solidFill>
                  <a:srgbClr val="111111"/>
                </a:solidFill>
                <a:ea typeface="+mn-lt"/>
                <a:cs typeface="+mn-lt"/>
              </a:rPr>
              <a:t> of the differences between districts can be explained by the two context indices.</a:t>
            </a:r>
            <a:endParaRPr lang="en-US"/>
          </a:p>
        </p:txBody>
      </p:sp>
      <p:sp>
        <p:nvSpPr>
          <p:cNvPr id="9" name="Text 6"/>
          <p:cNvSpPr/>
          <p:nvPr/>
        </p:nvSpPr>
        <p:spPr>
          <a:xfrm>
            <a:off x="7543800" y="3200400"/>
            <a:ext cx="4018598" cy="1032510"/>
          </a:xfrm>
          <a:prstGeom prst="rect">
            <a:avLst/>
          </a:prstGeom>
          <a:noFill/>
          <a:ln/>
        </p:spPr>
        <p:txBody>
          <a:bodyPr wrap="square" lIns="0" tIns="0" rIns="0" bIns="0" rtlCol="0" anchor="t"/>
          <a:lstStyle/>
          <a:p>
            <a:pPr>
              <a:lnSpc>
                <a:spcPct val="126000"/>
              </a:lnSpc>
            </a:pPr>
            <a:r>
              <a:rPr lang="en-US" sz="1200" b="1">
                <a:solidFill>
                  <a:srgbClr val="111111"/>
                </a:solidFill>
                <a:ea typeface="+mn-lt"/>
                <a:cs typeface="+mn-lt"/>
              </a:rPr>
              <a:t>Education access </a:t>
            </a:r>
            <a:r>
              <a:rPr lang="en-US" sz="1200">
                <a:solidFill>
                  <a:srgbClr val="111111"/>
                </a:solidFill>
                <a:ea typeface="+mn-lt"/>
                <a:cs typeface="+mn-lt"/>
              </a:rPr>
              <a:t>is positively associated with student mastery,</a:t>
            </a:r>
            <a:r>
              <a:rPr lang="en-US" sz="1200" b="1">
                <a:solidFill>
                  <a:srgbClr val="111111"/>
                </a:solidFill>
                <a:ea typeface="+mn-lt"/>
                <a:cs typeface="+mn-lt"/>
              </a:rPr>
              <a:t> while infrastructure </a:t>
            </a:r>
            <a:r>
              <a:rPr lang="en-US" sz="1200">
                <a:solidFill>
                  <a:srgbClr val="111111"/>
                </a:solidFill>
                <a:ea typeface="+mn-lt"/>
                <a:cs typeface="+mn-lt"/>
              </a:rPr>
              <a:t>shows little relationship. </a:t>
            </a:r>
            <a:endParaRPr lang="en-US" b="1">
              <a:solidFill>
                <a:srgbClr val="000000"/>
              </a:solidFill>
              <a:ea typeface="+mn-lt"/>
              <a:cs typeface="+mn-lt"/>
            </a:endParaRPr>
          </a:p>
          <a:p>
            <a:pPr>
              <a:lnSpc>
                <a:spcPct val="126000"/>
              </a:lnSpc>
            </a:pPr>
            <a:r>
              <a:rPr lang="en-US" sz="1200" b="1">
                <a:solidFill>
                  <a:srgbClr val="111111"/>
                </a:solidFill>
                <a:ea typeface="+mn-lt"/>
                <a:cs typeface="+mn-lt"/>
              </a:rPr>
              <a:t>The remaining 44% is likely explained by local teaching practices and school-level factors.</a:t>
            </a:r>
            <a:endParaRPr lang="en-US" b="1">
              <a:ea typeface="+mn-lt"/>
              <a:cs typeface="+mn-lt"/>
            </a:endParaRPr>
          </a:p>
        </p:txBody>
      </p:sp>
      <p:sp>
        <p:nvSpPr>
          <p:cNvPr id="10" name="Text 7"/>
          <p:cNvSpPr/>
          <p:nvPr/>
        </p:nvSpPr>
        <p:spPr>
          <a:xfrm>
            <a:off x="7543800" y="4579620"/>
            <a:ext cx="4023360" cy="201168"/>
          </a:xfrm>
          <a:prstGeom prst="rect">
            <a:avLst/>
          </a:prstGeom>
          <a:noFill/>
          <a:ln/>
        </p:spPr>
        <p:txBody>
          <a:bodyPr wrap="square" lIns="0" tIns="0" rIns="0" bIns="0" rtlCol="0" anchor="ctr"/>
          <a:lstStyle/>
          <a:p>
            <a:pPr marL="0" indent="0">
              <a:buNone/>
            </a:pPr>
            <a:r>
              <a:rPr lang="en-US" sz="900" b="1" kern="0" spc="160">
                <a:solidFill>
                  <a:srgbClr val="6E6E6E"/>
                </a:solidFill>
                <a:latin typeface="Calibri" panose="020F0502020204030204" pitchFamily="34" charset="0"/>
                <a:ea typeface="Calibri" panose="020F0502020204030204" pitchFamily="34" charset="0"/>
                <a:cs typeface="Calibri" panose="020F0502020204030204" pitchFamily="34" charset="0"/>
              </a:rPr>
              <a:t>WHERE THE HEADROOM IS LARGEST</a:t>
            </a:r>
            <a:endParaRPr lang="en-US" sz="900"/>
          </a:p>
        </p:txBody>
      </p:sp>
      <p:sp>
        <p:nvSpPr>
          <p:cNvPr id="11" name="Text 8"/>
          <p:cNvSpPr/>
          <p:nvPr/>
        </p:nvSpPr>
        <p:spPr>
          <a:xfrm>
            <a:off x="7543800" y="4854702"/>
            <a:ext cx="4023360" cy="1693545"/>
          </a:xfrm>
          <a:prstGeom prst="rect">
            <a:avLst/>
          </a:prstGeom>
          <a:noFill/>
          <a:ln/>
        </p:spPr>
        <p:txBody>
          <a:bodyPr wrap="square" lIns="0" tIns="0" rIns="0" bIns="0" rtlCol="0" anchor="t"/>
          <a:lstStyle/>
          <a:p>
            <a:pPr>
              <a:lnSpc>
                <a:spcPct val="114999"/>
              </a:lnSpc>
            </a:pPr>
            <a:r>
              <a:rPr lang="en-US" sz="1200" b="1">
                <a:solidFill>
                  <a:srgbClr val="6E6E6E"/>
                </a:solidFill>
                <a:ea typeface="+mn-lt"/>
                <a:cs typeface="+mn-lt"/>
              </a:rPr>
              <a:t>Koppal, Yadgir, Chikkaballapura, Kalaburagi, and Raichur perform below what their context predicts, suggesting they have the greatest potential to improve through better practices. Districts above the prediction line are worth studying for what they’re already doing well.</a:t>
            </a:r>
            <a:endParaRPr lang="en-US" b="1">
              <a:ea typeface="+mn-lt"/>
              <a:cs typeface="+mn-lt"/>
            </a:endParaRPr>
          </a:p>
        </p:txBody>
      </p:sp>
      <p:sp>
        <p:nvSpPr>
          <p:cNvPr id="12" name="Text 9"/>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16</a:t>
            </a:r>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DF8ACC-488D-0542-6EA8-0EA9273DA47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48AEA3B-5524-23C8-9D11-B4E3E906A060}"/>
              </a:ext>
            </a:extLst>
          </p:cNvPr>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ea typeface="Calibri"/>
                <a:cs typeface="Calibri"/>
              </a:rPr>
              <a:t>Non Attempts.</a:t>
            </a:r>
          </a:p>
        </p:txBody>
      </p:sp>
      <p:sp>
        <p:nvSpPr>
          <p:cNvPr id="12" name="Text 9">
            <a:extLst>
              <a:ext uri="{FF2B5EF4-FFF2-40B4-BE49-F238E27FC236}">
                <a16:creationId xmlns:a16="http://schemas.microsoft.com/office/drawing/2014/main" id="{8414B5DA-EB92-6951-6DC4-D8D5973B7A46}"/>
              </a:ext>
            </a:extLst>
          </p:cNvPr>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16</a:t>
            </a:r>
            <a:endParaRPr lang="en-US" sz="1000"/>
          </a:p>
        </p:txBody>
      </p:sp>
      <p:pic>
        <p:nvPicPr>
          <p:cNvPr id="13" name="Picture 12" descr="/home/claude/figs/fig/nb1_c76_0.png">
            <a:extLst>
              <a:ext uri="{FF2B5EF4-FFF2-40B4-BE49-F238E27FC236}">
                <a16:creationId xmlns:a16="http://schemas.microsoft.com/office/drawing/2014/main" id="{92B89F64-0232-294B-A0B8-1C13189A7117}"/>
              </a:ext>
            </a:extLst>
          </p:cNvPr>
          <p:cNvPicPr>
            <a:picLocks noChangeAspect="1"/>
          </p:cNvPicPr>
          <p:nvPr/>
        </p:nvPicPr>
        <p:blipFill>
          <a:blip r:embed="rId3"/>
          <a:srcRect b="200"/>
          <a:stretch>
            <a:fillRect/>
          </a:stretch>
        </p:blipFill>
        <p:spPr>
          <a:xfrm>
            <a:off x="685800" y="1877421"/>
            <a:ext cx="10820400" cy="2490549"/>
          </a:xfrm>
          <a:prstGeom prst="rect">
            <a:avLst/>
          </a:prstGeom>
        </p:spPr>
      </p:pic>
      <p:sp>
        <p:nvSpPr>
          <p:cNvPr id="14" name="TextBox 13">
            <a:extLst>
              <a:ext uri="{FF2B5EF4-FFF2-40B4-BE49-F238E27FC236}">
                <a16:creationId xmlns:a16="http://schemas.microsoft.com/office/drawing/2014/main" id="{190322E2-96AB-AD86-A8C1-5B19D604AE70}"/>
              </a:ext>
            </a:extLst>
          </p:cNvPr>
          <p:cNvSpPr txBox="1"/>
          <p:nvPr/>
        </p:nvSpPr>
        <p:spPr>
          <a:xfrm>
            <a:off x="819857" y="4793468"/>
            <a:ext cx="906834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234,761 children (17.0%) have a run of 4 or more zeros at the end of the paper while scoring something earlier.</a:t>
            </a:r>
            <a:endParaRPr lang="en-US"/>
          </a:p>
          <a:p>
            <a:pPr marL="285750" indent="-285750">
              <a:buFont typeface="Arial"/>
              <a:buChar char="•"/>
            </a:pPr>
            <a:r>
              <a:rPr lang="en-US">
                <a:ea typeface="+mn-lt"/>
                <a:cs typeface="+mn-lt"/>
              </a:rPr>
              <a:t>zeros at the end likely mean running out of time. measuring the size of this issue and which competencies sit at the end.</a:t>
            </a:r>
            <a:endParaRPr lang="en-US">
              <a:ea typeface="Calibri" panose="020F0502020204030204"/>
              <a:cs typeface="Calibri" panose="020F0502020204030204"/>
            </a:endParaRPr>
          </a:p>
        </p:txBody>
      </p:sp>
    </p:spTree>
    <p:extLst>
      <p:ext uri="{BB962C8B-B14F-4D97-AF65-F5344CB8AC3E}">
        <p14:creationId xmlns:p14="http://schemas.microsoft.com/office/powerpoint/2010/main" val="593742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ea typeface="+mn-lt"/>
                <a:cs typeface="+mn-lt"/>
              </a:rPr>
              <a:t>Recommendations</a:t>
            </a:r>
            <a:endParaRPr lang="en-US"/>
          </a:p>
        </p:txBody>
      </p:sp>
      <p:sp>
        <p:nvSpPr>
          <p:cNvPr id="6" name="Text 4"/>
          <p:cNvSpPr/>
          <p:nvPr/>
        </p:nvSpPr>
        <p:spPr>
          <a:xfrm>
            <a:off x="640080" y="2966282"/>
            <a:ext cx="6035040" cy="2286000"/>
          </a:xfrm>
          <a:prstGeom prst="rect">
            <a:avLst/>
          </a:prstGeom>
          <a:noFill/>
          <a:ln/>
        </p:spPr>
        <p:txBody>
          <a:bodyPr wrap="square" lIns="0" tIns="0" rIns="0" bIns="0" rtlCol="0" anchor="t"/>
          <a:lstStyle/>
          <a:p>
            <a:pPr>
              <a:lnSpc>
                <a:spcPct val="120000"/>
              </a:lnSpc>
              <a:spcAft>
                <a:spcPts val="1100"/>
              </a:spcAft>
            </a:pPr>
            <a:r>
              <a:rPr lang="en-US" sz="1600" b="1">
                <a:solidFill>
                  <a:srgbClr val="111111"/>
                </a:solidFill>
                <a:ea typeface="+mn-lt"/>
                <a:cs typeface="+mn-lt"/>
              </a:rPr>
              <a:t>Teach regrouping as a separate skill for the 14.7% of students who already understand the operation.</a:t>
            </a:r>
            <a:endParaRPr lang="en-US" sz="1600">
              <a:ea typeface="Calibri"/>
              <a:cs typeface="Calibri"/>
            </a:endParaRPr>
          </a:p>
          <a:p>
            <a:pPr marL="203200" indent="-203200">
              <a:lnSpc>
                <a:spcPct val="120000"/>
              </a:lnSpc>
              <a:spcAft>
                <a:spcPts val="1100"/>
              </a:spcAft>
              <a:buSzPct val="100000"/>
              <a:buFontTx/>
              <a:buChar char="■"/>
            </a:pPr>
            <a:r>
              <a:rPr lang="en-US" sz="1400">
                <a:solidFill>
                  <a:srgbClr val="111111"/>
                </a:solidFill>
                <a:ea typeface="+mn-lt"/>
                <a:cs typeface="+mn-lt"/>
              </a:rPr>
              <a:t>The data shows that many students understand the arithmetic operation but lose marks only when regrouping is involved. </a:t>
            </a:r>
          </a:p>
          <a:p>
            <a:pPr marL="203200" indent="-203200">
              <a:lnSpc>
                <a:spcPct val="120000"/>
              </a:lnSpc>
              <a:spcAft>
                <a:spcPts val="1100"/>
              </a:spcAft>
              <a:buSzPct val="100000"/>
              <a:buFontTx/>
              <a:buChar char="■"/>
            </a:pPr>
            <a:r>
              <a:rPr lang="en-US" sz="1400">
                <a:solidFill>
                  <a:srgbClr val="111111"/>
                </a:solidFill>
                <a:ea typeface="+mn-lt"/>
                <a:cs typeface="+mn-lt"/>
              </a:rPr>
              <a:t>Instead of reteaching the whole topic, we should teach regrouping as a separate skill</a:t>
            </a:r>
            <a:endParaRPr lang="en-US" sz="1400">
              <a:solidFill>
                <a:srgbClr val="111111"/>
              </a:solidFill>
              <a:ea typeface="Calibri"/>
              <a:cs typeface="Calibri"/>
            </a:endParaRPr>
          </a:p>
          <a:p>
            <a:pPr marL="203200" indent="-203200">
              <a:lnSpc>
                <a:spcPct val="120000"/>
              </a:lnSpc>
              <a:spcAft>
                <a:spcPts val="1100"/>
              </a:spcAft>
              <a:buSzPct val="100000"/>
              <a:buFontTx/>
              <a:buChar char="■"/>
            </a:pPr>
            <a:endParaRPr lang="en-US" sz="1400">
              <a:solidFill>
                <a:srgbClr val="111111"/>
              </a:solidFill>
              <a:ea typeface="Calibri"/>
              <a:cs typeface="Calibri"/>
            </a:endParaRPr>
          </a:p>
        </p:txBody>
      </p:sp>
      <p:pic>
        <p:nvPicPr>
          <p:cNvPr id="11" name="Image 0" descr="/home/claude/figs/fig/nb1_c74_0.png"/>
          <p:cNvPicPr>
            <a:picLocks noChangeAspect="1"/>
          </p:cNvPicPr>
          <p:nvPr/>
        </p:nvPicPr>
        <p:blipFill>
          <a:blip r:embed="rId3"/>
          <a:stretch>
            <a:fillRect/>
          </a:stretch>
        </p:blipFill>
        <p:spPr>
          <a:xfrm>
            <a:off x="6672574" y="454802"/>
            <a:ext cx="5118803" cy="4662198"/>
          </a:xfrm>
          <a:prstGeom prst="rect">
            <a:avLst/>
          </a:prstGeom>
        </p:spPr>
      </p:pic>
      <p:sp>
        <p:nvSpPr>
          <p:cNvPr id="12" name="Text 9"/>
          <p:cNvSpPr/>
          <p:nvPr/>
        </p:nvSpPr>
        <p:spPr>
          <a:xfrm>
            <a:off x="7218901" y="5252683"/>
            <a:ext cx="3657600" cy="256032"/>
          </a:xfrm>
          <a:prstGeom prst="rect">
            <a:avLst/>
          </a:prstGeom>
          <a:noFill/>
          <a:ln/>
        </p:spPr>
        <p:txBody>
          <a:bodyPr wrap="square" lIns="0" tIns="0" rIns="0" bIns="0" rtlCol="0" anchor="ctr"/>
          <a:lstStyle/>
          <a:p>
            <a:pPr marL="0" indent="0">
              <a:buNone/>
            </a:pPr>
            <a:r>
              <a:rPr lang="en-US" sz="1000" i="1">
                <a:solidFill>
                  <a:srgbClr val="9A9A9A"/>
                </a:solidFill>
                <a:latin typeface="Calibri"/>
                <a:ea typeface="Calibri"/>
                <a:cs typeface="Calibri"/>
              </a:rPr>
              <a:t>Districts where children hold the operation but lose the regrouping step · </a:t>
            </a:r>
            <a:endParaRPr lang="en-US" sz="1000">
              <a:latin typeface="Calibri"/>
              <a:ea typeface="Calibri"/>
              <a:cs typeface="Calibri"/>
            </a:endParaRPr>
          </a:p>
        </p:txBody>
      </p:sp>
      <p:sp>
        <p:nvSpPr>
          <p:cNvPr id="13" name="Text 10"/>
          <p:cNvSpPr/>
          <p:nvPr/>
        </p:nvSpPr>
        <p:spPr>
          <a:xfrm>
            <a:off x="7252031" y="5639463"/>
            <a:ext cx="3657600" cy="822960"/>
          </a:xfrm>
          <a:prstGeom prst="rect">
            <a:avLst/>
          </a:prstGeom>
          <a:noFill/>
          <a:ln/>
        </p:spPr>
        <p:txBody>
          <a:bodyPr wrap="square" lIns="0" tIns="0" rIns="0" bIns="0" rtlCol="0" anchor="t"/>
          <a:lstStyle/>
          <a:p>
            <a:pPr marL="0" indent="0">
              <a:lnSpc>
                <a:spcPct val="120000"/>
              </a:lnSpc>
              <a:buNone/>
            </a:pPr>
            <a:r>
              <a:rPr lang="en-US" sz="1200">
                <a:solidFill>
                  <a:srgbClr val="6E6E6E"/>
                </a:solidFill>
                <a:latin typeface="Calibri" panose="020F0502020204030204" pitchFamily="34" charset="0"/>
                <a:ea typeface="Calibri" panose="020F0502020204030204" pitchFamily="34" charset="0"/>
                <a:cs typeface="Calibri" panose="020F0502020204030204" pitchFamily="34" charset="0"/>
              </a:rPr>
              <a:t>A district high on this list but not on the overall list has children who already know the operation. That is a different lesson from a district with room on both.</a:t>
            </a:r>
            <a:endParaRPr lang="en-US" sz="1200"/>
          </a:p>
        </p:txBody>
      </p:sp>
      <p:sp>
        <p:nvSpPr>
          <p:cNvPr id="14" name="Text 11"/>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18</a:t>
            </a:r>
            <a:endParaRPr lang="en-US" sz="1000"/>
          </a:p>
        </p:txBody>
      </p:sp>
      <p:sp>
        <p:nvSpPr>
          <p:cNvPr id="2" name="TextBox 1">
            <a:extLst>
              <a:ext uri="{FF2B5EF4-FFF2-40B4-BE49-F238E27FC236}">
                <a16:creationId xmlns:a16="http://schemas.microsoft.com/office/drawing/2014/main" id="{037035CA-0047-B17E-C07E-0A1A6F7644E1}"/>
              </a:ext>
            </a:extLst>
          </p:cNvPr>
          <p:cNvSpPr txBox="1"/>
          <p:nvPr/>
        </p:nvSpPr>
        <p:spPr>
          <a:xfrm>
            <a:off x="577726" y="2318372"/>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AutoNum type="arabicPeriod"/>
            </a:pPr>
            <a:r>
              <a:rPr lang="en-US" sz="2000" b="1"/>
              <a:t>Teach Regrouping as a Separate Skill</a:t>
            </a:r>
            <a:endParaRPr lang="en-US" sz="2000" b="1">
              <a:ea typeface="Calibri"/>
              <a:cs typeface="Calibri"/>
            </a:endParaRPr>
          </a:p>
          <a:p>
            <a:pPr algn="ctr"/>
            <a:endParaRPr lang="en-US" sz="2000">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13BD2F8-B0A1-143C-26EF-CF9224E57864}"/>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EA048891-23B1-721E-59A6-4D60DA7B2044}"/>
              </a:ext>
            </a:extLst>
          </p:cNvPr>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ea typeface="+mn-lt"/>
                <a:cs typeface="+mn-lt"/>
              </a:rPr>
              <a:t>Recommendations</a:t>
            </a:r>
            <a:endParaRPr lang="en-US"/>
          </a:p>
        </p:txBody>
      </p:sp>
      <p:sp>
        <p:nvSpPr>
          <p:cNvPr id="6" name="Text 4">
            <a:extLst>
              <a:ext uri="{FF2B5EF4-FFF2-40B4-BE49-F238E27FC236}">
                <a16:creationId xmlns:a16="http://schemas.microsoft.com/office/drawing/2014/main" id="{969BB159-EF6C-C449-7F1E-6835DD352518}"/>
              </a:ext>
            </a:extLst>
          </p:cNvPr>
          <p:cNvSpPr/>
          <p:nvPr/>
        </p:nvSpPr>
        <p:spPr>
          <a:xfrm>
            <a:off x="640080" y="2971262"/>
            <a:ext cx="6035040" cy="2286000"/>
          </a:xfrm>
          <a:prstGeom prst="rect">
            <a:avLst/>
          </a:prstGeom>
          <a:noFill/>
          <a:ln/>
        </p:spPr>
        <p:txBody>
          <a:bodyPr wrap="square" lIns="0" tIns="0" rIns="0" bIns="0" rtlCol="0" anchor="t"/>
          <a:lstStyle/>
          <a:p>
            <a:pPr>
              <a:buSzPct val="100000"/>
            </a:pPr>
            <a:r>
              <a:rPr lang="en-US" sz="1400" b="1">
                <a:solidFill>
                  <a:srgbClr val="111111"/>
                </a:solidFill>
                <a:latin typeface="Arial"/>
                <a:ea typeface="Calibri"/>
                <a:cs typeface="Arial"/>
              </a:rPr>
              <a:t>Pair arithmetic instruction with language support where word-problem performance is the weakest.</a:t>
            </a:r>
          </a:p>
          <a:p>
            <a:endParaRPr lang="en-US" sz="1600" b="1">
              <a:solidFill>
                <a:srgbClr val="111111"/>
              </a:solidFill>
              <a:latin typeface="Arial"/>
              <a:ea typeface="Calibri"/>
              <a:cs typeface="Arial"/>
            </a:endParaRPr>
          </a:p>
          <a:p>
            <a:pPr marL="285750" indent="-285750">
              <a:buFont typeface="Wingdings"/>
              <a:buChar char="§"/>
            </a:pPr>
            <a:r>
              <a:rPr lang="en-US" sz="1600">
                <a:solidFill>
                  <a:srgbClr val="111111"/>
                </a:solidFill>
                <a:ea typeface="+mn-lt"/>
                <a:cs typeface="+mn-lt"/>
              </a:rPr>
              <a:t>Many students solve numerical calculations correctly but struggle when the same concept appears in a word problem.</a:t>
            </a:r>
            <a:endParaRPr lang="en-US">
              <a:ea typeface="Calibri" panose="020F0502020204030204"/>
              <a:cs typeface="Calibri" panose="020F0502020204030204"/>
            </a:endParaRPr>
          </a:p>
          <a:p>
            <a:pPr marL="285750" indent="-285750">
              <a:buFont typeface="Wingdings"/>
              <a:buChar char="§"/>
            </a:pPr>
            <a:r>
              <a:rPr lang="en-US" sz="1600">
                <a:solidFill>
                  <a:srgbClr val="111111"/>
                </a:solidFill>
                <a:ea typeface="+mn-lt"/>
                <a:cs typeface="+mn-lt"/>
              </a:rPr>
              <a:t>This suggests that language comprehension is limiting mathematical performance.</a:t>
            </a:r>
            <a:endParaRPr lang="en-US">
              <a:ea typeface="Calibri" panose="020F0502020204030204"/>
              <a:cs typeface="Calibri" panose="020F0502020204030204"/>
            </a:endParaRPr>
          </a:p>
          <a:p>
            <a:pPr marL="285750" indent="-285750">
              <a:buFont typeface="Wingdings"/>
              <a:buChar char="§"/>
            </a:pPr>
            <a:r>
              <a:rPr lang="en-US" sz="1600">
                <a:solidFill>
                  <a:srgbClr val="111111"/>
                </a:solidFill>
                <a:ea typeface="+mn-lt"/>
                <a:cs typeface="+mn-lt"/>
              </a:rPr>
              <a:t>Teaching vocabulary, question interpretation, and arithmetic together can reduce this gap.</a:t>
            </a:r>
            <a:endParaRPr lang="en-US">
              <a:ea typeface="Calibri" panose="020F0502020204030204"/>
              <a:cs typeface="Calibri" panose="020F0502020204030204"/>
            </a:endParaRPr>
          </a:p>
          <a:p>
            <a:endParaRPr lang="en-US" sz="1600" b="1">
              <a:solidFill>
                <a:srgbClr val="111111"/>
              </a:solidFill>
              <a:latin typeface="Arial"/>
              <a:ea typeface="Calibri"/>
              <a:cs typeface="Arial"/>
            </a:endParaRPr>
          </a:p>
          <a:p>
            <a:pPr marL="203200" indent="-203200">
              <a:lnSpc>
                <a:spcPct val="120000"/>
              </a:lnSpc>
              <a:spcAft>
                <a:spcPts val="1100"/>
              </a:spcAft>
              <a:buSzPct val="100000"/>
              <a:buFont typeface="Wingdings"/>
              <a:buChar char="§"/>
            </a:pPr>
            <a:endParaRPr lang="en-US" sz="2800" b="1">
              <a:ea typeface="Calibri"/>
              <a:cs typeface="Calibri"/>
            </a:endParaRPr>
          </a:p>
        </p:txBody>
      </p:sp>
      <p:sp>
        <p:nvSpPr>
          <p:cNvPr id="14" name="Text 11">
            <a:extLst>
              <a:ext uri="{FF2B5EF4-FFF2-40B4-BE49-F238E27FC236}">
                <a16:creationId xmlns:a16="http://schemas.microsoft.com/office/drawing/2014/main" id="{6EBF3266-D931-468B-2051-5F953259869C}"/>
              </a:ext>
            </a:extLst>
          </p:cNvPr>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18</a:t>
            </a:r>
            <a:endParaRPr lang="en-US" sz="1000"/>
          </a:p>
        </p:txBody>
      </p:sp>
      <p:sp>
        <p:nvSpPr>
          <p:cNvPr id="2" name="TextBox 1">
            <a:extLst>
              <a:ext uri="{FF2B5EF4-FFF2-40B4-BE49-F238E27FC236}">
                <a16:creationId xmlns:a16="http://schemas.microsoft.com/office/drawing/2014/main" id="{C8E5D0E0-511E-85ED-F200-95EBC2182B75}"/>
              </a:ext>
            </a:extLst>
          </p:cNvPr>
          <p:cNvSpPr txBox="1"/>
          <p:nvPr/>
        </p:nvSpPr>
        <p:spPr>
          <a:xfrm>
            <a:off x="468157" y="2238686"/>
            <a:ext cx="609600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2. Pair arithmetic with language support</a:t>
            </a:r>
            <a:endParaRPr lang="en-US" sz="2000" b="1">
              <a:ea typeface="Calibri"/>
              <a:cs typeface="Calibri"/>
            </a:endParaRPr>
          </a:p>
          <a:p>
            <a:pPr algn="ctr"/>
            <a:endParaRPr lang="en-US" sz="2000">
              <a:ea typeface="Calibri"/>
              <a:cs typeface="Calibri"/>
            </a:endParaRPr>
          </a:p>
        </p:txBody>
      </p:sp>
      <p:pic>
        <p:nvPicPr>
          <p:cNvPr id="3" name="Picture 2">
            <a:extLst>
              <a:ext uri="{FF2B5EF4-FFF2-40B4-BE49-F238E27FC236}">
                <a16:creationId xmlns:a16="http://schemas.microsoft.com/office/drawing/2014/main" id="{F9009A1A-AB26-061E-2E3A-C72D404ABB4A}"/>
              </a:ext>
            </a:extLst>
          </p:cNvPr>
          <p:cNvPicPr>
            <a:picLocks noChangeAspect="1"/>
          </p:cNvPicPr>
          <p:nvPr/>
        </p:nvPicPr>
        <p:blipFill>
          <a:blip r:embed="rId3"/>
          <a:stretch>
            <a:fillRect/>
          </a:stretch>
        </p:blipFill>
        <p:spPr>
          <a:xfrm>
            <a:off x="6841708" y="2071181"/>
            <a:ext cx="5148747" cy="2958375"/>
          </a:xfrm>
          <a:prstGeom prst="rect">
            <a:avLst/>
          </a:prstGeom>
        </p:spPr>
      </p:pic>
    </p:spTree>
    <p:extLst>
      <p:ext uri="{BB962C8B-B14F-4D97-AF65-F5344CB8AC3E}">
        <p14:creationId xmlns:p14="http://schemas.microsoft.com/office/powerpoint/2010/main" val="3035675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F9FD822-F19B-E651-79E1-C305A1E87C8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8D59C857-7000-EC4E-B422-5762DAAA4A1C}"/>
              </a:ext>
            </a:extLst>
          </p:cNvPr>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ea typeface="+mn-lt"/>
                <a:cs typeface="+mn-lt"/>
              </a:rPr>
              <a:t>Recommendations</a:t>
            </a:r>
            <a:endParaRPr lang="en-US"/>
          </a:p>
        </p:txBody>
      </p:sp>
      <p:sp>
        <p:nvSpPr>
          <p:cNvPr id="6" name="Text 4">
            <a:extLst>
              <a:ext uri="{FF2B5EF4-FFF2-40B4-BE49-F238E27FC236}">
                <a16:creationId xmlns:a16="http://schemas.microsoft.com/office/drawing/2014/main" id="{B98C107B-0883-F08C-630D-8560EEFB1F45}"/>
              </a:ext>
            </a:extLst>
          </p:cNvPr>
          <p:cNvSpPr/>
          <p:nvPr/>
        </p:nvSpPr>
        <p:spPr>
          <a:xfrm>
            <a:off x="640080" y="2971262"/>
            <a:ext cx="6035040" cy="2286000"/>
          </a:xfrm>
          <a:prstGeom prst="rect">
            <a:avLst/>
          </a:prstGeom>
          <a:noFill/>
          <a:ln/>
        </p:spPr>
        <p:txBody>
          <a:bodyPr wrap="square" lIns="0" tIns="0" rIns="0" bIns="0" rtlCol="0" anchor="t"/>
          <a:lstStyle/>
          <a:p>
            <a:r>
              <a:rPr lang="en-US" sz="1600" b="1">
                <a:solidFill>
                  <a:srgbClr val="111111"/>
                </a:solidFill>
                <a:ea typeface="+mn-lt"/>
                <a:cs typeface="+mn-lt"/>
              </a:rPr>
              <a:t>Adjust the teaching sequence based on competency relationships.</a:t>
            </a:r>
            <a:endParaRPr lang="en-US" sz="1600">
              <a:ea typeface="+mn-lt"/>
              <a:cs typeface="+mn-lt"/>
            </a:endParaRPr>
          </a:p>
          <a:p>
            <a:endParaRPr lang="en-US" sz="1400" b="1">
              <a:solidFill>
                <a:srgbClr val="111111"/>
              </a:solidFill>
              <a:latin typeface="Arial"/>
              <a:ea typeface="+mn-lt"/>
              <a:cs typeface="Arial"/>
            </a:endParaRPr>
          </a:p>
          <a:p>
            <a:pPr marL="285750" indent="-285750">
              <a:buFont typeface="Wingdings"/>
              <a:buChar char="§"/>
            </a:pPr>
            <a:r>
              <a:rPr lang="en-US" sz="1400">
                <a:solidFill>
                  <a:srgbClr val="111111"/>
                </a:solidFill>
                <a:latin typeface="Helvetica Neue"/>
                <a:ea typeface="+mn-lt"/>
                <a:cs typeface="+mn-lt"/>
              </a:rPr>
              <a:t>Grade 4: prioritize division, followed by multiplication and measurement</a:t>
            </a:r>
            <a:r>
              <a:rPr lang="en-US" sz="1400">
                <a:solidFill>
                  <a:srgbClr val="111111"/>
                </a:solidFill>
                <a:latin typeface="Helvetica Neue"/>
                <a:ea typeface="Calibri"/>
                <a:cs typeface="Calibri"/>
              </a:rPr>
              <a:t>.</a:t>
            </a:r>
            <a:endParaRPr lang="en-US" sz="1400">
              <a:solidFill>
                <a:srgbClr val="000000"/>
              </a:solidFill>
              <a:latin typeface="Helvetica Neue"/>
              <a:ea typeface="Calibri"/>
              <a:cs typeface="Calibri"/>
            </a:endParaRPr>
          </a:p>
          <a:p>
            <a:pPr>
              <a:buFont typeface="Wingdings,sans-serif"/>
              <a:buChar char="§"/>
            </a:pPr>
            <a:endParaRPr lang="en-US" sz="1400">
              <a:solidFill>
                <a:srgbClr val="111111"/>
              </a:solidFill>
              <a:latin typeface="Calibri"/>
              <a:ea typeface="+mn-lt"/>
              <a:cs typeface="Calibri"/>
            </a:endParaRPr>
          </a:p>
          <a:p>
            <a:pPr marL="285750" indent="-285750">
              <a:buFont typeface="Wingdings"/>
              <a:buChar char="§"/>
            </a:pPr>
            <a:r>
              <a:rPr lang="en-US" sz="1400">
                <a:solidFill>
                  <a:srgbClr val="111111"/>
                </a:solidFill>
                <a:latin typeface="Arial"/>
                <a:ea typeface="+mn-lt"/>
                <a:cs typeface="Arial"/>
              </a:rPr>
              <a:t>Grade 5: prioritize </a:t>
            </a:r>
            <a:r>
              <a:rPr lang="en-US" sz="1400" b="1">
                <a:solidFill>
                  <a:srgbClr val="111111"/>
                </a:solidFill>
                <a:latin typeface="Arial"/>
                <a:ea typeface="+mn-lt"/>
                <a:cs typeface="Arial"/>
              </a:rPr>
              <a:t>measurement</a:t>
            </a:r>
            <a:r>
              <a:rPr lang="en-US" sz="1400">
                <a:solidFill>
                  <a:srgbClr val="111111"/>
                </a:solidFill>
                <a:latin typeface="Arial"/>
                <a:ea typeface="+mn-lt"/>
                <a:cs typeface="Arial"/>
              </a:rPr>
              <a:t>, followed by division.</a:t>
            </a:r>
            <a:endParaRPr lang="en-US" sz="1400">
              <a:latin typeface="Arial"/>
              <a:cs typeface="Arial"/>
            </a:endParaRPr>
          </a:p>
          <a:p>
            <a:pPr>
              <a:buFont typeface="Wingdings,sans-serif"/>
              <a:buChar char="§"/>
            </a:pPr>
            <a:endParaRPr lang="en-US" sz="1400">
              <a:solidFill>
                <a:srgbClr val="111111"/>
              </a:solidFill>
              <a:latin typeface="Arial"/>
              <a:ea typeface="Calibri"/>
              <a:cs typeface="Arial"/>
            </a:endParaRPr>
          </a:p>
        </p:txBody>
      </p:sp>
      <p:sp>
        <p:nvSpPr>
          <p:cNvPr id="14" name="Text 11">
            <a:extLst>
              <a:ext uri="{FF2B5EF4-FFF2-40B4-BE49-F238E27FC236}">
                <a16:creationId xmlns:a16="http://schemas.microsoft.com/office/drawing/2014/main" id="{B32C1DFA-E475-17BC-052A-C565487B9DE5}"/>
              </a:ext>
            </a:extLst>
          </p:cNvPr>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18</a:t>
            </a:r>
            <a:endParaRPr lang="en-US" sz="1000"/>
          </a:p>
        </p:txBody>
      </p:sp>
      <p:sp>
        <p:nvSpPr>
          <p:cNvPr id="2" name="TextBox 1">
            <a:extLst>
              <a:ext uri="{FF2B5EF4-FFF2-40B4-BE49-F238E27FC236}">
                <a16:creationId xmlns:a16="http://schemas.microsoft.com/office/drawing/2014/main" id="{C7AB2D76-BA8C-9BD9-D5B5-913003089629}"/>
              </a:ext>
            </a:extLst>
          </p:cNvPr>
          <p:cNvSpPr txBox="1"/>
          <p:nvPr/>
        </p:nvSpPr>
        <p:spPr>
          <a:xfrm>
            <a:off x="468157" y="2238686"/>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3. Prioritize competencies by grade</a:t>
            </a:r>
            <a:endParaRPr lang="en-US" sz="2000">
              <a:ea typeface="Calibri"/>
              <a:cs typeface="Calibri"/>
            </a:endParaRPr>
          </a:p>
          <a:p>
            <a:pPr algn="ctr"/>
            <a:endParaRPr lang="en-US" sz="2400">
              <a:ea typeface="Calibri"/>
              <a:cs typeface="Calibri"/>
            </a:endParaRPr>
          </a:p>
        </p:txBody>
      </p:sp>
    </p:spTree>
    <p:extLst>
      <p:ext uri="{BB962C8B-B14F-4D97-AF65-F5344CB8AC3E}">
        <p14:creationId xmlns:p14="http://schemas.microsoft.com/office/powerpoint/2010/main" val="776564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08DF4C5-0F99-20B6-6850-31DAC729F9D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2D82B52-B38F-34EE-631C-7F1F58C4DF00}"/>
              </a:ext>
            </a:extLst>
          </p:cNvPr>
          <p:cNvSpPr/>
          <p:nvPr/>
        </p:nvSpPr>
        <p:spPr>
          <a:xfrm>
            <a:off x="640080" y="868680"/>
            <a:ext cx="10911535" cy="749808"/>
          </a:xfrm>
          <a:prstGeom prst="rect">
            <a:avLst/>
          </a:prstGeom>
          <a:noFill/>
          <a:ln/>
        </p:spPr>
        <p:txBody>
          <a:bodyPr wrap="square" lIns="0" tIns="0" rIns="0" bIns="0" rtlCol="0" anchor="t"/>
          <a:lstStyle/>
          <a:p>
            <a:r>
              <a:rPr lang="en-US" sz="3000" b="1">
                <a:solidFill>
                  <a:srgbClr val="111111"/>
                </a:solidFill>
                <a:ea typeface="+mn-lt"/>
                <a:cs typeface="+mn-lt"/>
              </a:rPr>
              <a:t>Recommendations</a:t>
            </a:r>
            <a:endParaRPr lang="en-US" sz="3000" b="1">
              <a:solidFill>
                <a:srgbClr val="111111"/>
              </a:solidFill>
              <a:ea typeface="Calibri"/>
              <a:cs typeface="Calibri"/>
            </a:endParaRPr>
          </a:p>
        </p:txBody>
      </p:sp>
      <p:sp>
        <p:nvSpPr>
          <p:cNvPr id="6" name="Text 4">
            <a:extLst>
              <a:ext uri="{FF2B5EF4-FFF2-40B4-BE49-F238E27FC236}">
                <a16:creationId xmlns:a16="http://schemas.microsoft.com/office/drawing/2014/main" id="{55D92899-A342-1644-F924-E00309206221}"/>
              </a:ext>
            </a:extLst>
          </p:cNvPr>
          <p:cNvSpPr/>
          <p:nvPr/>
        </p:nvSpPr>
        <p:spPr>
          <a:xfrm>
            <a:off x="640080" y="2971262"/>
            <a:ext cx="6035040" cy="2286000"/>
          </a:xfrm>
          <a:prstGeom prst="rect">
            <a:avLst/>
          </a:prstGeom>
          <a:noFill/>
          <a:ln/>
        </p:spPr>
        <p:txBody>
          <a:bodyPr wrap="square" lIns="0" tIns="0" rIns="0" bIns="0" rtlCol="0" anchor="t"/>
          <a:lstStyle/>
          <a:p>
            <a:r>
              <a:rPr lang="en-US" sz="1600" b="1">
                <a:solidFill>
                  <a:srgbClr val="111111"/>
                </a:solidFill>
                <a:ea typeface="+mn-lt"/>
                <a:cs typeface="+mn-lt"/>
              </a:rPr>
              <a:t>Learn from high-performing gram panchayats within the same block.</a:t>
            </a:r>
            <a:endParaRPr lang="en-US">
              <a:ea typeface="+mn-lt"/>
              <a:cs typeface="+mn-lt"/>
            </a:endParaRPr>
          </a:p>
          <a:p>
            <a:endParaRPr lang="en-US" sz="1400" b="1">
              <a:solidFill>
                <a:srgbClr val="111111"/>
              </a:solidFill>
              <a:latin typeface="Arial"/>
              <a:ea typeface="+mn-lt"/>
              <a:cs typeface="Arial"/>
            </a:endParaRPr>
          </a:p>
          <a:p>
            <a:pPr marL="285750" indent="-285750">
              <a:buFont typeface="Wingdings"/>
              <a:buChar char="§"/>
            </a:pPr>
            <a:r>
              <a:rPr lang="en-US" sz="1400">
                <a:solidFill>
                  <a:srgbClr val="111111"/>
                </a:solidFill>
                <a:latin typeface="Helvetica Neue"/>
                <a:ea typeface="+mn-lt"/>
                <a:cs typeface="+mn-lt"/>
              </a:rPr>
              <a:t>Compare GPs within the same block to account for similar local conditions</a:t>
            </a:r>
            <a:r>
              <a:rPr lang="en-US" sz="1400">
                <a:solidFill>
                  <a:srgbClr val="111111"/>
                </a:solidFill>
                <a:latin typeface="Helvetica Neue"/>
                <a:ea typeface="Calibri"/>
                <a:cs typeface="Calibri"/>
              </a:rPr>
              <a:t>.</a:t>
            </a:r>
            <a:endParaRPr lang="en-US" sz="1400">
              <a:solidFill>
                <a:srgbClr val="000000"/>
              </a:solidFill>
              <a:latin typeface="Helvetica Neue"/>
              <a:ea typeface="Calibri"/>
              <a:cs typeface="Calibri"/>
            </a:endParaRPr>
          </a:p>
          <a:p>
            <a:pPr>
              <a:buFont typeface="Wingdings,sans-serif"/>
              <a:buChar char="§"/>
            </a:pPr>
            <a:endParaRPr lang="en-US" sz="1400">
              <a:solidFill>
                <a:srgbClr val="111111"/>
              </a:solidFill>
              <a:latin typeface="Calibri"/>
              <a:ea typeface="+mn-lt"/>
              <a:cs typeface="Calibri"/>
            </a:endParaRPr>
          </a:p>
          <a:p>
            <a:pPr marL="285750" indent="-285750">
              <a:buFont typeface="Wingdings"/>
              <a:buChar char="§"/>
            </a:pPr>
            <a:r>
              <a:rPr lang="en-US" sz="1400">
                <a:solidFill>
                  <a:srgbClr val="111111"/>
                </a:solidFill>
                <a:latin typeface="Helvetica Neue"/>
                <a:ea typeface="+mn-lt"/>
                <a:cs typeface="Arial"/>
              </a:rPr>
              <a:t>Some GPs consistently outperform others despite facing similar circumstances.</a:t>
            </a:r>
            <a:endParaRPr lang="en-US" sz="1400">
              <a:latin typeface="Helvetica Neue"/>
              <a:cs typeface="Arial"/>
            </a:endParaRPr>
          </a:p>
          <a:p>
            <a:pPr>
              <a:buFont typeface="Wingdings,sans-serif"/>
              <a:buChar char="§"/>
            </a:pPr>
            <a:endParaRPr lang="en-US" sz="1400">
              <a:solidFill>
                <a:srgbClr val="111111"/>
              </a:solidFill>
              <a:latin typeface="Calibri"/>
              <a:ea typeface="+mn-lt"/>
              <a:cs typeface="Calibri"/>
            </a:endParaRPr>
          </a:p>
          <a:p>
            <a:pPr marL="285750" indent="-285750">
              <a:buFont typeface="Wingdings"/>
              <a:buChar char="§"/>
            </a:pPr>
            <a:r>
              <a:rPr lang="en-US" sz="1400">
                <a:solidFill>
                  <a:srgbClr val="111111"/>
                </a:solidFill>
                <a:latin typeface="Helvetica Neue"/>
                <a:ea typeface="+mn-lt"/>
                <a:cs typeface="Arial"/>
              </a:rPr>
              <a:t>Their teaching practices can be adapted elsewhere.</a:t>
            </a:r>
            <a:endParaRPr lang="en-US" sz="1400">
              <a:latin typeface="Helvetica Neue"/>
              <a:cs typeface="Arial"/>
            </a:endParaRPr>
          </a:p>
          <a:p>
            <a:endParaRPr lang="en-US" sz="1600" b="1">
              <a:solidFill>
                <a:srgbClr val="111111"/>
              </a:solidFill>
              <a:latin typeface="Arial"/>
              <a:ea typeface="Calibri"/>
              <a:cs typeface="Arial"/>
            </a:endParaRPr>
          </a:p>
          <a:p>
            <a:pPr marL="203200" indent="-203200">
              <a:lnSpc>
                <a:spcPct val="120000"/>
              </a:lnSpc>
              <a:spcAft>
                <a:spcPts val="1100"/>
              </a:spcAft>
              <a:buSzPct val="100000"/>
              <a:buFont typeface="Wingdings"/>
              <a:buChar char="§"/>
            </a:pPr>
            <a:endParaRPr lang="en-US" sz="2800" b="1">
              <a:ea typeface="Calibri"/>
              <a:cs typeface="Calibri"/>
            </a:endParaRPr>
          </a:p>
        </p:txBody>
      </p:sp>
      <p:sp>
        <p:nvSpPr>
          <p:cNvPr id="14" name="Text 11">
            <a:extLst>
              <a:ext uri="{FF2B5EF4-FFF2-40B4-BE49-F238E27FC236}">
                <a16:creationId xmlns:a16="http://schemas.microsoft.com/office/drawing/2014/main" id="{C830D688-33AC-D40E-999F-DF5C8718A86F}"/>
              </a:ext>
            </a:extLst>
          </p:cNvPr>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9A9A9A"/>
                </a:solidFill>
                <a:latin typeface="Calibri" panose="020F0502020204030204" pitchFamily="34" charset="0"/>
                <a:ea typeface="Calibri" panose="020F0502020204030204" pitchFamily="34" charset="0"/>
                <a:cs typeface="Calibri" panose="020F0502020204030204" pitchFamily="34" charset="0"/>
              </a:rPr>
              <a:t>18</a:t>
            </a:r>
            <a:endParaRPr lang="en-US" sz="1000"/>
          </a:p>
        </p:txBody>
      </p:sp>
      <p:sp>
        <p:nvSpPr>
          <p:cNvPr id="2" name="TextBox 1">
            <a:extLst>
              <a:ext uri="{FF2B5EF4-FFF2-40B4-BE49-F238E27FC236}">
                <a16:creationId xmlns:a16="http://schemas.microsoft.com/office/drawing/2014/main" id="{57DD81A2-EC01-2D72-1F01-CBDFF4AE6F08}"/>
              </a:ext>
            </a:extLst>
          </p:cNvPr>
          <p:cNvSpPr txBox="1"/>
          <p:nvPr/>
        </p:nvSpPr>
        <p:spPr>
          <a:xfrm>
            <a:off x="468157" y="2238686"/>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4. Learn from successful GPs</a:t>
            </a:r>
            <a:endParaRPr lang="en-US" sz="2000">
              <a:ea typeface="Calibri"/>
              <a:cs typeface="Calibri"/>
            </a:endParaRPr>
          </a:p>
        </p:txBody>
      </p:sp>
    </p:spTree>
    <p:extLst>
      <p:ext uri="{BB962C8B-B14F-4D97-AF65-F5344CB8AC3E}">
        <p14:creationId xmlns:p14="http://schemas.microsoft.com/office/powerpoint/2010/main" val="1072504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a:extLst>
            <a:ext uri="{FF2B5EF4-FFF2-40B4-BE49-F238E27FC236}">
              <a16:creationId xmlns:a16="http://schemas.microsoft.com/office/drawing/2014/main" id="{79680A36-F983-A989-A51A-B36D91FB5234}"/>
            </a:ext>
          </a:extLst>
        </p:cNvPr>
        <p:cNvGrpSpPr/>
        <p:nvPr/>
      </p:nvGrpSpPr>
      <p:grpSpPr>
        <a:xfrm>
          <a:off x="0" y="0"/>
          <a:ext cx="0" cy="0"/>
          <a:chOff x="0" y="0"/>
          <a:chExt cx="0" cy="0"/>
        </a:xfrm>
      </p:grpSpPr>
      <p:sp>
        <p:nvSpPr>
          <p:cNvPr id="18" name="Text 16">
            <a:extLst>
              <a:ext uri="{FF2B5EF4-FFF2-40B4-BE49-F238E27FC236}">
                <a16:creationId xmlns:a16="http://schemas.microsoft.com/office/drawing/2014/main" id="{36E967D0-AF34-0AF3-918E-933A4A0C673C}"/>
              </a:ext>
            </a:extLst>
          </p:cNvPr>
          <p:cNvSpPr/>
          <p:nvPr/>
        </p:nvSpPr>
        <p:spPr>
          <a:xfrm>
            <a:off x="10911535" y="6327648"/>
            <a:ext cx="640080" cy="256032"/>
          </a:xfrm>
          <a:prstGeom prst="rect">
            <a:avLst/>
          </a:prstGeom>
          <a:noFill/>
          <a:ln/>
        </p:spPr>
        <p:txBody>
          <a:bodyPr wrap="square" lIns="0" tIns="0" rIns="0" bIns="0" rtlCol="0" anchor="ctr"/>
          <a:lstStyle/>
          <a:p>
            <a:pPr marL="0" indent="0" algn="r">
              <a:buNone/>
            </a:pPr>
            <a:r>
              <a:rPr lang="en-US" sz="1000" b="1">
                <a:solidFill>
                  <a:srgbClr val="E8B10A"/>
                </a:solidFill>
                <a:latin typeface="Calibri" panose="020F0502020204030204" pitchFamily="34" charset="0"/>
                <a:ea typeface="Calibri" panose="020F0502020204030204" pitchFamily="34" charset="0"/>
                <a:cs typeface="Calibri" panose="020F0502020204030204" pitchFamily="34" charset="0"/>
              </a:rPr>
              <a:t>20</a:t>
            </a:r>
            <a:endParaRPr lang="en-US" sz="1000"/>
          </a:p>
        </p:txBody>
      </p:sp>
      <p:sp>
        <p:nvSpPr>
          <p:cNvPr id="17" name="Text 15"/>
          <p:cNvSpPr/>
          <p:nvPr/>
        </p:nvSpPr>
        <p:spPr>
          <a:xfrm>
            <a:off x="4267200" y="3108960"/>
            <a:ext cx="3657600" cy="640080"/>
          </a:xfrm>
          <a:prstGeom prst="rect">
            <a:avLst/>
          </a:prstGeom>
          <a:noFill/>
          <a:ln/>
        </p:spPr>
        <p:txBody>
          <a:bodyPr wrap="square" lIns="0" tIns="0" rIns="0" bIns="0" rtlCol="0" anchor="ctr"/>
          <a:lstStyle/>
          <a:p>
            <a:pPr marL="0" indent="0" algn="ctr">
              <a:buNone/>
            </a:pPr>
            <a:r>
              <a:rPr lang="en-US" sz="6000" b="1">
                <a:solidFill>
                  <a:srgbClr val="FFFFFF"/>
                </a:solidFill>
                <a:latin typeface="Calibri" panose="020F0502020204030204" pitchFamily="34" charset="0"/>
                <a:ea typeface="Calibri" panose="020F0502020204030204" pitchFamily="34" charset="0"/>
                <a:cs typeface="Calibri" panose="020F0502020204030204" pitchFamily="34" charset="0"/>
              </a:rPr>
              <a:t>Thank you</a:t>
            </a:r>
            <a:endParaRPr lang="en-US" sz="6000"/>
          </a:p>
        </p:txBody>
      </p:sp>
    </p:spTree>
    <p:extLst>
      <p:ext uri="{BB962C8B-B14F-4D97-AF65-F5344CB8AC3E}">
        <p14:creationId xmlns:p14="http://schemas.microsoft.com/office/powerpoint/2010/main" val="152254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Karnataka arithmetic — Datathon 2026</dc:title>
  <dc:subject>PptxGenJS Presentation</dc:subject>
  <dc:creator>Team Outliers</dc:creator>
  <cp:revision>5</cp:revision>
  <dcterms:created xsi:type="dcterms:W3CDTF">2026-08-02T00:57:38Z</dcterms:created>
  <dcterms:modified xsi:type="dcterms:W3CDTF">2026-08-03T09:50:14Z</dcterms:modified>
</cp:coreProperties>
</file>